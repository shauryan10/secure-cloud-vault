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embeddedFontLst>
    <p:embeddedFont>
      <p:font typeface="Instrument Sans"/>
      <p:regular r:id="rId201314"/>
    </p:embeddedFont>
    <p:embeddedFont>
      <p:font typeface="Instrument Sans Medium"/>
      <p:regular r:id="rId201315"/>
    </p:embeddedFont>
    <p:embeddedFont>
      <p:font typeface="Instrument Sans SemiBold"/>
      <p:regular r:id="rId201316"/>
    </p:embeddedFont>
    <p:embeddedFont>
      <p:font typeface="Instrument Sans Bold"/>
      <p:regular r:id="rId201317"/>
    </p:embeddedFont>
    <p:embeddedFont>
      <p:font typeface="Open Sans Light"/>
      <p:regular r:id="rId201318"/>
    </p:embeddedFont>
    <p:embeddedFont>
      <p:font typeface="Open Sans Bold"/>
      <p:regular r:id="rId201319"/>
    </p:embeddedFont>
    <p:embeddedFont>
      <p:font typeface="Open Sans"/>
      <p:regular r:id="rId201320"/>
    </p:embeddedFont>
    <p:embeddedFont>
      <p:font typeface="Open Sans Medium"/>
      <p:regular r:id="rId201321"/>
    </p:embeddedFont>
    <p:embeddedFont>
      <p:font typeface="Open Sans SemiBold"/>
      <p:regular r:id="rId201322"/>
    </p:embeddedFont>
    <p:embeddedFont>
      <p:font typeface="Open Sans ExtraBold"/>
      <p:regular r:id="rId2013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0"/>
            <a:ext cx="9144000" cy="5143500"/>
          </a:xfrm>
          <a:prstGeom prst="rect">
            <a:avLst/>
          </a:prstGeom>
          <a:solidFill>
            <a:srgbClr val="1F1F1F"/>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1F1F1F">
              <a:alpha val="80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0"/>
            <a:ext cx="9144000" cy="5143500"/>
          </a:xfrm>
          <a:prstGeom prst="rect">
            <a:avLst/>
          </a:prstGeom>
          <a:solidFill>
            <a:srgbClr val="1F1F1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1.png"/><Relationship Id="rId8" Type="http://schemas.openxmlformats.org/officeDocument/2006/relationships/image" Target="../media/image-5-2.svg"/><Relationship Id="rId9" Type="http://schemas.openxmlformats.org/officeDocument/2006/relationships/image" Target="../media/image-5-1.png"/><Relationship Id="rId10" Type="http://schemas.openxmlformats.org/officeDocument/2006/relationships/image" Target="../media/image-5-2.sv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8.png"/><Relationship Id="rId9" Type="http://schemas.openxmlformats.org/officeDocument/2006/relationships/image" Target="../media/image-6-9.svg"/><Relationship Id="rId10" Type="http://schemas.openxmlformats.org/officeDocument/2006/relationships/image" Target="../media/image-6-10.png"/><Relationship Id="rId11" Type="http://schemas.openxmlformats.org/officeDocument/2006/relationships/image" Target="../media/image-6-11.svg"/><Relationship Id="rId12" Type="http://schemas.openxmlformats.org/officeDocument/2006/relationships/image" Target="../media/image-6-12.png"/><Relationship Id="rId13" Type="http://schemas.openxmlformats.org/officeDocument/2006/relationships/image" Target="../media/image-6-13.svg"/><Relationship Id="rId14" Type="http://schemas.openxmlformats.org/officeDocument/2006/relationships/slideLayout" Target="../slideLayouts/slideLayout3.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slideLayout" Target="../slideLayouts/slideLayout3.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0023" y="1038448"/>
            <a:ext cx="8063954" cy="482203"/>
          </a:xfrm>
          <a:prstGeom prst="rect">
            <a:avLst/>
          </a:prstGeom>
          <a:noFill/>
          <a:ln/>
        </p:spPr>
        <p:txBody>
          <a:bodyPr wrap="none" lIns="0" tIns="0" rIns="0" bIns="0" rtlCol="0" anchor="t"/>
          <a:lstStyle/>
          <a:p>
            <a:pPr algn="l" indent="0" marL="0">
              <a:lnSpc>
                <a:spcPct val="104000"/>
              </a:lnSpc>
              <a:buNone/>
            </a:pPr>
            <a:r>
              <a:rPr lang="en-US" sz="3000" dirty="0">
                <a:solidFill>
                  <a:srgbClr val="FEFEFE"/>
                </a:solidFill>
                <a:latin typeface="Instrument Sans Medium" pitchFamily="34" charset="0"/>
                <a:ea typeface="Instrument Sans Medium" pitchFamily="34" charset="-122"/>
                <a:cs typeface="Instrument Sans Medium" pitchFamily="34" charset="-120"/>
              </a:rPr>
              <a:t>Secure Cloud Vault</a:t>
            </a:r>
            <a:endParaRPr lang="en-US" sz="3000" dirty="0"/>
          </a:p>
        </p:txBody>
      </p:sp>
      <p:sp>
        <p:nvSpPr>
          <p:cNvPr id="3" name="Text 1"/>
          <p:cNvSpPr/>
          <p:nvPr/>
        </p:nvSpPr>
        <p:spPr>
          <a:xfrm>
            <a:off x="540023" y="1582341"/>
            <a:ext cx="8063954" cy="289247"/>
          </a:xfrm>
          <a:prstGeom prst="rect">
            <a:avLst/>
          </a:prstGeom>
          <a:noFill/>
          <a:ln/>
        </p:spPr>
        <p:txBody>
          <a:bodyPr wrap="none" lIns="0" tIns="0" rIns="0" bIns="0" rtlCol="0" anchor="t"/>
          <a:lstStyle/>
          <a:p>
            <a:pPr algn="l" indent="0" marL="0">
              <a:lnSpc>
                <a:spcPct val="104000"/>
              </a:lnSpc>
              <a:buNone/>
            </a:pPr>
            <a:endParaRPr lang="en-US" sz="1800" dirty="0"/>
          </a:p>
        </p:txBody>
      </p:sp>
      <p:sp>
        <p:nvSpPr>
          <p:cNvPr id="4" name="Text 2"/>
          <p:cNvSpPr/>
          <p:nvPr/>
        </p:nvSpPr>
        <p:spPr>
          <a:xfrm>
            <a:off x="540023" y="2103016"/>
            <a:ext cx="8063954" cy="2002036"/>
          </a:xfrm>
          <a:prstGeom prst="rect">
            <a:avLst/>
          </a:prstGeom>
          <a:noFill/>
          <a:ln/>
        </p:spPr>
        <p:txBody>
          <a:bodyPr wrap="square" lIns="0" tIns="0" rIns="0" bIns="0" rtlCol="0" anchor="t"/>
          <a:lstStyle/>
          <a:p>
            <a:pPr algn="l" indent="0" marL="0">
              <a:lnSpc>
                <a:spcPct val="133000"/>
              </a:lnSpc>
              <a:spcAft>
                <a:spcPts val="3300"/>
              </a:spcAft>
              <a:buNone/>
            </a:pPr>
            <a:endParaRPr lang="en-US" sz="1200" dirty="0"/>
          </a:p>
          <a:p>
            <a:pPr algn="l" indent="0" marL="0">
              <a:lnSpc>
                <a:spcPct val="133000"/>
              </a:lnSpc>
              <a:spcAft>
                <a:spcPts val="1350"/>
              </a:spcAft>
              <a:buNone/>
            </a:pPr>
            <a:r>
              <a:rPr lang="en-US" sz="1200" b="1" dirty="0">
                <a:solidFill>
                  <a:srgbClr val="BFBFBF"/>
                </a:solidFill>
                <a:latin typeface="Open Sans Bold" pitchFamily="34" charset="0"/>
                <a:ea typeface="Open Sans Bold" pitchFamily="34" charset="-122"/>
                <a:cs typeface="Open Sans Bold" pitchFamily="34" charset="-120"/>
              </a:rPr>
              <a:t>Cloud-Native Secure Asset Storage Platform</a:t>
            </a:r>
            <a:endParaRPr lang="en-US" sz="1200" dirty="0"/>
          </a:p>
          <a:p>
            <a:pPr algn="l" indent="0" marL="0">
              <a:lnSpc>
                <a:spcPct val="133000"/>
              </a:lnSpc>
              <a:spcAft>
                <a:spcPts val="1350"/>
              </a:spcAft>
              <a:buNone/>
            </a:pPr>
            <a:r>
              <a:rPr lang="en-US" sz="1200" dirty="0">
                <a:solidFill>
                  <a:srgbClr val="BFBFBF"/>
                </a:solidFill>
                <a:latin typeface="Open Sans" pitchFamily="34" charset="0"/>
                <a:ea typeface="Open Sans" pitchFamily="34" charset="-122"/>
                <a:cs typeface="Open Sans" pitchFamily="34" charset="-120"/>
              </a:rPr>
              <a:t>Secure Cloud Vault is a cloud-based application that enables users to securely upload, manage, and retrieve sensitive digital assets. The system combines secure authentication, cloud storage, integrity verification, and modern security practices to protect user files while providing seamless accessibility.</a:t>
            </a:r>
            <a:endParaRPr lang="en-US" sz="1200" dirty="0"/>
          </a:p>
          <a:p>
            <a:pPr algn="l" indent="0" marL="0">
              <a:lnSpc>
                <a:spcPct val="133000"/>
              </a:lnSpc>
              <a:buNone/>
            </a:pPr>
            <a:r>
              <a:rPr lang="en-US" sz="1200" dirty="0">
                <a:solidFill>
                  <a:srgbClr val="BFBFBF"/>
                </a:solidFill>
                <a:latin typeface="Open Sans" pitchFamily="34" charset="0"/>
                <a:ea typeface="Open Sans" pitchFamily="34" charset="-122"/>
                <a:cs typeface="Open Sans" pitchFamily="34" charset="-120"/>
              </a:rPr>
              <a:t>                                                                                                                                   - Shauryan Shindhu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0023" y="424309"/>
            <a:ext cx="8063954" cy="241102"/>
          </a:xfrm>
          <a:prstGeom prst="rect">
            <a:avLst/>
          </a:prstGeom>
          <a:noFill/>
          <a:ln/>
        </p:spPr>
        <p:txBody>
          <a:bodyPr wrap="none" lIns="0" tIns="0" rIns="0" bIns="0" rtlCol="0" anchor="t"/>
          <a:lstStyle/>
          <a:p>
            <a:pPr algn="l" indent="0" marL="0">
              <a:lnSpc>
                <a:spcPct val="104000"/>
              </a:lnSpc>
              <a:buNone/>
            </a:pPr>
            <a:r>
              <a:rPr lang="en-US" sz="1500" dirty="0">
                <a:solidFill>
                  <a:srgbClr val="FEFEFE"/>
                </a:solidFill>
                <a:latin typeface="Instrument Sans Medium" pitchFamily="34" charset="0"/>
                <a:ea typeface="Instrument Sans Medium" pitchFamily="34" charset="-122"/>
                <a:cs typeface="Instrument Sans Medium" pitchFamily="34" charset="-120"/>
              </a:rPr>
              <a:t>Objective &amp; Problem Statement</a:t>
            </a:r>
            <a:endParaRPr lang="en-US" sz="1500" dirty="0"/>
          </a:p>
        </p:txBody>
      </p:sp>
      <p:sp>
        <p:nvSpPr>
          <p:cNvPr id="3" name="Shape 1"/>
          <p:cNvSpPr/>
          <p:nvPr/>
        </p:nvSpPr>
        <p:spPr>
          <a:xfrm>
            <a:off x="484510" y="723230"/>
            <a:ext cx="4048944" cy="939924"/>
          </a:xfrm>
          <a:prstGeom prst="roundRect">
            <a:avLst>
              <a:gd name="adj" fmla="val 1231"/>
            </a:avLst>
          </a:prstGeom>
          <a:solidFill>
            <a:srgbClr val="F5F547"/>
          </a:solidFill>
          <a:ln/>
        </p:spPr>
      </p:sp>
      <p:sp>
        <p:nvSpPr>
          <p:cNvPr id="4" name="Text 2"/>
          <p:cNvSpPr/>
          <p:nvPr/>
        </p:nvSpPr>
        <p:spPr>
          <a:xfrm>
            <a:off x="561603" y="761777"/>
            <a:ext cx="3894758" cy="120551"/>
          </a:xfrm>
          <a:prstGeom prst="rect">
            <a:avLst/>
          </a:prstGeom>
          <a:noFill/>
          <a:ln/>
        </p:spPr>
        <p:txBody>
          <a:bodyPr wrap="none" lIns="0" tIns="0" rIns="0" bIns="0" rtlCol="0" anchor="t"/>
          <a:lstStyle/>
          <a:p>
            <a:pPr algn="l" indent="0" marL="0">
              <a:lnSpc>
                <a:spcPct val="1040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Problem Statement</a:t>
            </a:r>
            <a:endParaRPr lang="en-US" sz="750" dirty="0"/>
          </a:p>
        </p:txBody>
      </p:sp>
      <p:sp>
        <p:nvSpPr>
          <p:cNvPr id="5" name="Text 3"/>
          <p:cNvSpPr/>
          <p:nvPr/>
        </p:nvSpPr>
        <p:spPr>
          <a:xfrm>
            <a:off x="561603" y="920874"/>
            <a:ext cx="3894758" cy="185142"/>
          </a:xfrm>
          <a:prstGeom prst="rect">
            <a:avLst/>
          </a:prstGeom>
          <a:noFill/>
          <a:ln/>
        </p:spPr>
        <p:txBody>
          <a:bodyPr wrap="square" lIns="0" tIns="0" rIns="0" bIns="0" rtlCol="0" anchor="t">
            <a:normAutofit/>
          </a:bodyPr>
          <a:lstStyle/>
          <a:p>
            <a:pPr algn="l" indent="0" marL="0">
              <a:lnSpc>
                <a:spcPct val="100000"/>
              </a:lnSpc>
              <a:buNone/>
            </a:pPr>
            <a:r>
              <a:rPr lang="en-US" sz="600" dirty="0">
                <a:solidFill>
                  <a:srgbClr val="000000"/>
                </a:solidFill>
                <a:latin typeface="Open Sans" pitchFamily="34" charset="0"/>
                <a:ea typeface="Open Sans" pitchFamily="34" charset="-122"/>
                <a:cs typeface="Open Sans" pitchFamily="34" charset="-120"/>
              </a:rPr>
              <a:t>Traditional file storage solutions often lack strong authentication, integrity verification, and centralized activity monitoring, making sensitive files vulnerable to unauthorized access and tampering.</a:t>
            </a:r>
            <a:endParaRPr lang="en-US" sz="600" dirty="0"/>
          </a:p>
        </p:txBody>
      </p:sp>
      <p:sp>
        <p:nvSpPr>
          <p:cNvPr id="6" name="Text 4"/>
          <p:cNvSpPr/>
          <p:nvPr/>
        </p:nvSpPr>
        <p:spPr>
          <a:xfrm>
            <a:off x="4670822" y="761777"/>
            <a:ext cx="3937918" cy="120551"/>
          </a:xfrm>
          <a:prstGeom prst="rect">
            <a:avLst/>
          </a:prstGeom>
          <a:noFill/>
          <a:ln/>
        </p:spPr>
        <p:txBody>
          <a:bodyPr wrap="none" lIns="0" tIns="0" rIns="0" bIns="0" rtlCol="0" anchor="t"/>
          <a:lstStyle/>
          <a:p>
            <a:pPr algn="l" indent="0" marL="0">
              <a:lnSpc>
                <a:spcPct val="104000"/>
              </a:lnSpc>
              <a:buNone/>
            </a:pPr>
            <a:r>
              <a:rPr lang="en-US" sz="750" dirty="0">
                <a:solidFill>
                  <a:srgbClr val="FEFEFE"/>
                </a:solidFill>
                <a:latin typeface="Instrument Sans Medium" pitchFamily="34" charset="0"/>
                <a:ea typeface="Instrument Sans Medium" pitchFamily="34" charset="-122"/>
                <a:cs typeface="Instrument Sans Medium" pitchFamily="34" charset="-120"/>
              </a:rPr>
              <a:t>Project Objectives</a:t>
            </a:r>
            <a:endParaRPr lang="en-US" sz="750" dirty="0"/>
          </a:p>
        </p:txBody>
      </p:sp>
      <p:sp>
        <p:nvSpPr>
          <p:cNvPr id="7" name="Text 5"/>
          <p:cNvSpPr/>
          <p:nvPr/>
        </p:nvSpPr>
        <p:spPr>
          <a:xfrm>
            <a:off x="4670822" y="920874"/>
            <a:ext cx="3937918" cy="728811"/>
          </a:xfrm>
          <a:prstGeom prst="rect">
            <a:avLst/>
          </a:prstGeom>
          <a:noFill/>
          <a:ln/>
        </p:spPr>
        <p:txBody>
          <a:bodyPr wrap="square" lIns="0" tIns="0" rIns="0" bIns="0" rtlCol="0" anchor="t">
            <a:normAutofit/>
          </a:bodyPr>
          <a:lstStyle/>
          <a:p>
            <a:pPr algn="l" marL="121920" indent="-121920">
              <a:lnSpc>
                <a:spcPct val="100000"/>
              </a:lnSpc>
              <a:buSzPct val="100000"/>
              <a:buChar char="•"/>
            </a:pPr>
            <a:r>
              <a:rPr lang="en-US" sz="600" dirty="0">
                <a:solidFill>
                  <a:srgbClr val="BFBFBF"/>
                </a:solidFill>
                <a:latin typeface="Open Sans" pitchFamily="34" charset="0"/>
                <a:ea typeface="Open Sans" pitchFamily="34" charset="-122"/>
                <a:cs typeface="Open Sans" pitchFamily="34" charset="-120"/>
              </a:rPr>
              <a:t>Build a secure cloud-based file storage platform</a:t>
            </a:r>
            <a:endParaRPr lang="en-US" sz="600" dirty="0"/>
          </a:p>
          <a:p>
            <a:pPr algn="l" marL="121920" indent="-121920">
              <a:lnSpc>
                <a:spcPct val="100000"/>
              </a:lnSpc>
              <a:buSzPct val="100000"/>
              <a:buChar char="•"/>
            </a:pPr>
            <a:r>
              <a:rPr lang="en-US" sz="600" dirty="0">
                <a:solidFill>
                  <a:srgbClr val="BFBFBF"/>
                </a:solidFill>
                <a:latin typeface="Open Sans" pitchFamily="34" charset="0"/>
                <a:ea typeface="Open Sans" pitchFamily="34" charset="-122"/>
                <a:cs typeface="Open Sans" pitchFamily="34" charset="-120"/>
              </a:rPr>
              <a:t>Implement JWT-based authentication</a:t>
            </a:r>
            <a:endParaRPr lang="en-US" sz="600" dirty="0"/>
          </a:p>
          <a:p>
            <a:pPr algn="l" marL="121920" indent="-121920">
              <a:lnSpc>
                <a:spcPct val="100000"/>
              </a:lnSpc>
              <a:buSzPct val="100000"/>
              <a:buChar char="•"/>
            </a:pPr>
            <a:r>
              <a:rPr lang="en-US" sz="600" dirty="0">
                <a:solidFill>
                  <a:srgbClr val="BFBFBF"/>
                </a:solidFill>
                <a:latin typeface="Open Sans" pitchFamily="34" charset="0"/>
                <a:ea typeface="Open Sans" pitchFamily="34" charset="-122"/>
                <a:cs typeface="Open Sans" pitchFamily="34" charset="-120"/>
              </a:rPr>
              <a:t>Enable Two-Factor Authentication (TOTP)</a:t>
            </a:r>
            <a:endParaRPr lang="en-US" sz="600" dirty="0"/>
          </a:p>
          <a:p>
            <a:pPr algn="l" marL="121920" indent="-121920">
              <a:lnSpc>
                <a:spcPct val="100000"/>
              </a:lnSpc>
              <a:buSzPct val="100000"/>
              <a:buChar char="•"/>
            </a:pPr>
            <a:r>
              <a:rPr lang="en-US" sz="600" dirty="0">
                <a:solidFill>
                  <a:srgbClr val="BFBFBF"/>
                </a:solidFill>
                <a:latin typeface="Open Sans" pitchFamily="34" charset="0"/>
                <a:ea typeface="Open Sans" pitchFamily="34" charset="-122"/>
                <a:cs typeface="Open Sans" pitchFamily="34" charset="-120"/>
              </a:rPr>
              <a:t>Securely store files in AWS S3</a:t>
            </a:r>
            <a:endParaRPr lang="en-US" sz="600" dirty="0"/>
          </a:p>
          <a:p>
            <a:pPr algn="l" marL="121920" indent="-121920">
              <a:lnSpc>
                <a:spcPct val="100000"/>
              </a:lnSpc>
              <a:buSzPct val="100000"/>
              <a:buChar char="•"/>
            </a:pPr>
            <a:r>
              <a:rPr lang="en-US" sz="600" dirty="0">
                <a:solidFill>
                  <a:srgbClr val="BFBFBF"/>
                </a:solidFill>
                <a:latin typeface="Open Sans" pitchFamily="34" charset="0"/>
                <a:ea typeface="Open Sans" pitchFamily="34" charset="-122"/>
                <a:cs typeface="Open Sans" pitchFamily="34" charset="-120"/>
              </a:rPr>
              <a:t>Maintain file integrity using SHA-256 hashing</a:t>
            </a:r>
            <a:endParaRPr lang="en-US" sz="600" dirty="0"/>
          </a:p>
          <a:p>
            <a:pPr algn="l" marL="121920" indent="-121920">
              <a:lnSpc>
                <a:spcPct val="100000"/>
              </a:lnSpc>
              <a:buSzPct val="100000"/>
              <a:buChar char="•"/>
            </a:pPr>
            <a:r>
              <a:rPr lang="en-US" sz="600" dirty="0">
                <a:solidFill>
                  <a:srgbClr val="BFBFBF"/>
                </a:solidFill>
                <a:latin typeface="Open Sans" pitchFamily="34" charset="0"/>
                <a:ea typeface="Open Sans" pitchFamily="34" charset="-122"/>
                <a:cs typeface="Open Sans" pitchFamily="34" charset="-120"/>
              </a:rPr>
              <a:t>Store metadata securely in MySQL</a:t>
            </a:r>
            <a:endParaRPr lang="en-US" sz="600" dirty="0"/>
          </a:p>
          <a:p>
            <a:pPr algn="l" marL="121920" indent="-121920">
              <a:lnSpc>
                <a:spcPct val="100000"/>
              </a:lnSpc>
              <a:buSzPct val="100000"/>
              <a:buChar char="•"/>
            </a:pPr>
            <a:r>
              <a:rPr lang="en-US" sz="600" dirty="0">
                <a:solidFill>
                  <a:srgbClr val="BFBFBF"/>
                </a:solidFill>
                <a:latin typeface="Open Sans" pitchFamily="34" charset="0"/>
                <a:ea typeface="Open Sans" pitchFamily="34" charset="-122"/>
                <a:cs typeface="Open Sans" pitchFamily="34" charset="-120"/>
              </a:rPr>
              <a:t>Provide secure file upload, download, and deletion</a:t>
            </a:r>
            <a:endParaRPr lang="en-US" sz="600" dirty="0"/>
          </a:p>
        </p:txBody>
      </p:sp>
      <p:pic>
        <p:nvPicPr>
          <p:cNvPr id="8" name="Image 0" descr="preencoded.png">    </p:cNvPr>
          <p:cNvPicPr>
            <a:picLocks noChangeAspect="1"/>
          </p:cNvPicPr>
          <p:nvPr/>
        </p:nvPicPr>
        <p:blipFill>
          <a:blip r:embed="rId1"/>
          <a:stretch>
            <a:fillRect/>
          </a:stretch>
        </p:blipFill>
        <p:spPr>
          <a:xfrm>
            <a:off x="540023" y="1706538"/>
            <a:ext cx="7315200" cy="4114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0023" y="454223"/>
            <a:ext cx="8063954" cy="421928"/>
          </a:xfrm>
          <a:prstGeom prst="rect">
            <a:avLst/>
          </a:prstGeom>
          <a:noFill/>
          <a:ln/>
        </p:spPr>
        <p:txBody>
          <a:bodyPr wrap="none" lIns="0" tIns="0" rIns="0" bIns="0" rtlCol="0" anchor="t"/>
          <a:lstStyle/>
          <a:p>
            <a:pPr algn="l" indent="0" marL="0">
              <a:lnSpc>
                <a:spcPct val="104000"/>
              </a:lnSpc>
              <a:buNone/>
            </a:pPr>
            <a:r>
              <a:rPr lang="en-US" sz="2650" dirty="0">
                <a:solidFill>
                  <a:srgbClr val="FEFEFE"/>
                </a:solidFill>
                <a:latin typeface="Instrument Sans Medium" pitchFamily="34" charset="0"/>
                <a:ea typeface="Instrument Sans Medium" pitchFamily="34" charset="-122"/>
                <a:cs typeface="Instrument Sans Medium" pitchFamily="34" charset="-120"/>
              </a:rPr>
              <a:t>Technology Stack</a:t>
            </a:r>
            <a:endParaRPr lang="en-US" sz="2650" dirty="0"/>
          </a:p>
        </p:txBody>
      </p:sp>
      <p:sp>
        <p:nvSpPr>
          <p:cNvPr id="3" name="Shape 1"/>
          <p:cNvSpPr/>
          <p:nvPr/>
        </p:nvSpPr>
        <p:spPr>
          <a:xfrm>
            <a:off x="540023" y="1112416"/>
            <a:ext cx="3972892" cy="2216944"/>
          </a:xfrm>
          <a:prstGeom prst="roundRect">
            <a:avLst>
              <a:gd name="adj" fmla="val 914"/>
            </a:avLst>
          </a:prstGeom>
          <a:solidFill>
            <a:srgbClr val="3E3E3E"/>
          </a:solidFill>
          <a:ln/>
        </p:spPr>
      </p:sp>
      <p:sp>
        <p:nvSpPr>
          <p:cNvPr id="4" name="Text 2"/>
          <p:cNvSpPr/>
          <p:nvPr/>
        </p:nvSpPr>
        <p:spPr>
          <a:xfrm>
            <a:off x="675010" y="1247403"/>
            <a:ext cx="3702918" cy="210964"/>
          </a:xfrm>
          <a:prstGeom prst="rect">
            <a:avLst/>
          </a:prstGeom>
          <a:noFill/>
          <a:ln/>
        </p:spPr>
        <p:txBody>
          <a:bodyPr wrap="none" lIns="0" tIns="0" rIns="0" bIns="0" rtlCol="0" anchor="t"/>
          <a:lstStyle/>
          <a:p>
            <a:pPr algn="l" indent="0" marL="0">
              <a:lnSpc>
                <a:spcPct val="104000"/>
              </a:lnSpc>
              <a:buNone/>
            </a:pPr>
            <a:r>
              <a:rPr lang="en-US" sz="1300" dirty="0">
                <a:solidFill>
                  <a:srgbClr val="BFBFBF"/>
                </a:solidFill>
                <a:latin typeface="Instrument Sans Medium" pitchFamily="34" charset="0"/>
                <a:ea typeface="Instrument Sans Medium" pitchFamily="34" charset="-122"/>
                <a:cs typeface="Instrument Sans Medium" pitchFamily="34" charset="-120"/>
              </a:rPr>
              <a:t>Frontend</a:t>
            </a:r>
            <a:endParaRPr lang="en-US" sz="1300" dirty="0"/>
          </a:p>
        </p:txBody>
      </p:sp>
      <p:sp>
        <p:nvSpPr>
          <p:cNvPr id="5" name="Text 3"/>
          <p:cNvSpPr/>
          <p:nvPr/>
        </p:nvSpPr>
        <p:spPr>
          <a:xfrm>
            <a:off x="675010" y="1529209"/>
            <a:ext cx="3702918" cy="1177603"/>
          </a:xfrm>
          <a:prstGeom prst="rect">
            <a:avLst/>
          </a:prstGeom>
          <a:noFill/>
          <a:ln/>
        </p:spPr>
        <p:txBody>
          <a:bodyPr wrap="square" lIns="0" tIns="0" rIns="0" bIns="0" rtlCol="0" anchor="t">
            <a:normAutofit/>
          </a:bodyPr>
          <a:lstStyle/>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React 19</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Vite</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React Router</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Axios</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HTML/CSS</a:t>
            </a:r>
            <a:endParaRPr lang="en-US" sz="1050" dirty="0"/>
          </a:p>
        </p:txBody>
      </p:sp>
      <p:sp>
        <p:nvSpPr>
          <p:cNvPr id="6" name="Shape 4"/>
          <p:cNvSpPr/>
          <p:nvPr/>
        </p:nvSpPr>
        <p:spPr>
          <a:xfrm>
            <a:off x="4631010" y="1112416"/>
            <a:ext cx="3972967" cy="2216944"/>
          </a:xfrm>
          <a:prstGeom prst="roundRect">
            <a:avLst>
              <a:gd name="adj" fmla="val 914"/>
            </a:avLst>
          </a:prstGeom>
          <a:solidFill>
            <a:srgbClr val="3E3E3E"/>
          </a:solidFill>
          <a:ln/>
        </p:spPr>
      </p:sp>
      <p:sp>
        <p:nvSpPr>
          <p:cNvPr id="7" name="Text 5"/>
          <p:cNvSpPr/>
          <p:nvPr/>
        </p:nvSpPr>
        <p:spPr>
          <a:xfrm>
            <a:off x="4765997" y="1247403"/>
            <a:ext cx="3702993" cy="210964"/>
          </a:xfrm>
          <a:prstGeom prst="rect">
            <a:avLst/>
          </a:prstGeom>
          <a:noFill/>
          <a:ln/>
        </p:spPr>
        <p:txBody>
          <a:bodyPr wrap="none" lIns="0" tIns="0" rIns="0" bIns="0" rtlCol="0" anchor="t"/>
          <a:lstStyle/>
          <a:p>
            <a:pPr algn="l" indent="0" marL="0">
              <a:lnSpc>
                <a:spcPct val="104000"/>
              </a:lnSpc>
              <a:buNone/>
            </a:pPr>
            <a:r>
              <a:rPr lang="en-US" sz="1300" dirty="0">
                <a:solidFill>
                  <a:srgbClr val="BFBFBF"/>
                </a:solidFill>
                <a:latin typeface="Instrument Sans Medium" pitchFamily="34" charset="0"/>
                <a:ea typeface="Instrument Sans Medium" pitchFamily="34" charset="-122"/>
                <a:cs typeface="Instrument Sans Medium" pitchFamily="34" charset="-120"/>
              </a:rPr>
              <a:t>Backend</a:t>
            </a:r>
            <a:endParaRPr lang="en-US" sz="1300" dirty="0"/>
          </a:p>
        </p:txBody>
      </p:sp>
      <p:sp>
        <p:nvSpPr>
          <p:cNvPr id="8" name="Text 6"/>
          <p:cNvSpPr/>
          <p:nvPr/>
        </p:nvSpPr>
        <p:spPr>
          <a:xfrm>
            <a:off x="4765997" y="1529209"/>
            <a:ext cx="3702993" cy="1665163"/>
          </a:xfrm>
          <a:prstGeom prst="rect">
            <a:avLst/>
          </a:prstGeom>
          <a:noFill/>
          <a:ln/>
        </p:spPr>
        <p:txBody>
          <a:bodyPr wrap="square" lIns="0" tIns="0" rIns="0" bIns="0" rtlCol="0" anchor="t">
            <a:normAutofit/>
          </a:bodyPr>
          <a:lstStyle/>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FastAPI</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Python</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SQLAlchemy</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JWT Authentication</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bcrypt</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PyOTP (2FA)</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Boto3</a:t>
            </a:r>
            <a:endParaRPr lang="en-US" sz="1050" dirty="0"/>
          </a:p>
        </p:txBody>
      </p:sp>
      <p:sp>
        <p:nvSpPr>
          <p:cNvPr id="9" name="Shape 7"/>
          <p:cNvSpPr/>
          <p:nvPr/>
        </p:nvSpPr>
        <p:spPr>
          <a:xfrm>
            <a:off x="540023" y="3447455"/>
            <a:ext cx="3972892" cy="1241822"/>
          </a:xfrm>
          <a:prstGeom prst="roundRect">
            <a:avLst>
              <a:gd name="adj" fmla="val 1631"/>
            </a:avLst>
          </a:prstGeom>
          <a:solidFill>
            <a:srgbClr val="3E3E3E"/>
          </a:solidFill>
          <a:ln/>
        </p:spPr>
      </p:sp>
      <p:sp>
        <p:nvSpPr>
          <p:cNvPr id="10" name="Text 8"/>
          <p:cNvSpPr/>
          <p:nvPr/>
        </p:nvSpPr>
        <p:spPr>
          <a:xfrm>
            <a:off x="675010" y="3582442"/>
            <a:ext cx="3702918" cy="210964"/>
          </a:xfrm>
          <a:prstGeom prst="rect">
            <a:avLst/>
          </a:prstGeom>
          <a:noFill/>
          <a:ln/>
        </p:spPr>
        <p:txBody>
          <a:bodyPr wrap="none" lIns="0" tIns="0" rIns="0" bIns="0" rtlCol="0" anchor="t"/>
          <a:lstStyle/>
          <a:p>
            <a:pPr algn="l" indent="0" marL="0">
              <a:lnSpc>
                <a:spcPct val="104000"/>
              </a:lnSpc>
              <a:buNone/>
            </a:pPr>
            <a:r>
              <a:rPr lang="en-US" sz="1300" dirty="0">
                <a:solidFill>
                  <a:srgbClr val="BFBFBF"/>
                </a:solidFill>
                <a:latin typeface="Instrument Sans Medium" pitchFamily="34" charset="0"/>
                <a:ea typeface="Instrument Sans Medium" pitchFamily="34" charset="-122"/>
                <a:cs typeface="Instrument Sans Medium" pitchFamily="34" charset="-120"/>
              </a:rPr>
              <a:t>Database</a:t>
            </a:r>
            <a:endParaRPr lang="en-US" sz="1300" dirty="0"/>
          </a:p>
        </p:txBody>
      </p:sp>
      <p:sp>
        <p:nvSpPr>
          <p:cNvPr id="11" name="Text 9"/>
          <p:cNvSpPr/>
          <p:nvPr/>
        </p:nvSpPr>
        <p:spPr>
          <a:xfrm>
            <a:off x="675010" y="3864248"/>
            <a:ext cx="3702918" cy="202481"/>
          </a:xfrm>
          <a:prstGeom prst="rect">
            <a:avLst/>
          </a:prstGeom>
          <a:noFill/>
          <a:ln/>
        </p:spPr>
        <p:txBody>
          <a:bodyPr wrap="none" lIns="0" tIns="0" rIns="0" bIns="0" rtlCol="0" anchor="t"/>
          <a:lstStyle/>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MySQL</a:t>
            </a:r>
            <a:endParaRPr lang="en-US" sz="1050" dirty="0"/>
          </a:p>
        </p:txBody>
      </p:sp>
      <p:sp>
        <p:nvSpPr>
          <p:cNvPr id="12" name="Shape 10"/>
          <p:cNvSpPr/>
          <p:nvPr/>
        </p:nvSpPr>
        <p:spPr>
          <a:xfrm>
            <a:off x="4631010" y="3447455"/>
            <a:ext cx="3972967" cy="1241822"/>
          </a:xfrm>
          <a:prstGeom prst="roundRect">
            <a:avLst>
              <a:gd name="adj" fmla="val 1631"/>
            </a:avLst>
          </a:prstGeom>
          <a:solidFill>
            <a:srgbClr val="3E3E3E"/>
          </a:solidFill>
          <a:ln/>
        </p:spPr>
      </p:sp>
      <p:sp>
        <p:nvSpPr>
          <p:cNvPr id="13" name="Text 11"/>
          <p:cNvSpPr/>
          <p:nvPr/>
        </p:nvSpPr>
        <p:spPr>
          <a:xfrm>
            <a:off x="4765997" y="3582442"/>
            <a:ext cx="3702993" cy="210964"/>
          </a:xfrm>
          <a:prstGeom prst="rect">
            <a:avLst/>
          </a:prstGeom>
          <a:noFill/>
          <a:ln/>
        </p:spPr>
        <p:txBody>
          <a:bodyPr wrap="none" lIns="0" tIns="0" rIns="0" bIns="0" rtlCol="0" anchor="t"/>
          <a:lstStyle/>
          <a:p>
            <a:pPr algn="l" indent="0" marL="0">
              <a:lnSpc>
                <a:spcPct val="104000"/>
              </a:lnSpc>
              <a:buNone/>
            </a:pPr>
            <a:r>
              <a:rPr lang="en-US" sz="1300" dirty="0">
                <a:solidFill>
                  <a:srgbClr val="BFBFBF"/>
                </a:solidFill>
                <a:latin typeface="Instrument Sans Medium" pitchFamily="34" charset="0"/>
                <a:ea typeface="Instrument Sans Medium" pitchFamily="34" charset="-122"/>
                <a:cs typeface="Instrument Sans Medium" pitchFamily="34" charset="-120"/>
              </a:rPr>
              <a:t>Cloud &amp; Deployment</a:t>
            </a:r>
            <a:endParaRPr lang="en-US" sz="1300" dirty="0"/>
          </a:p>
        </p:txBody>
      </p:sp>
      <p:sp>
        <p:nvSpPr>
          <p:cNvPr id="14" name="Text 12"/>
          <p:cNvSpPr/>
          <p:nvPr/>
        </p:nvSpPr>
        <p:spPr>
          <a:xfrm>
            <a:off x="4765997" y="3864248"/>
            <a:ext cx="3702993" cy="690042"/>
          </a:xfrm>
          <a:prstGeom prst="rect">
            <a:avLst/>
          </a:prstGeom>
          <a:noFill/>
          <a:ln/>
        </p:spPr>
        <p:txBody>
          <a:bodyPr wrap="square" lIns="0" tIns="0" rIns="0" bIns="0" rtlCol="0" anchor="t">
            <a:normAutofit/>
          </a:bodyPr>
          <a:lstStyle/>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AWS S3</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Docker</a:t>
            </a:r>
            <a:endParaRPr lang="en-US" sz="1050" dirty="0"/>
          </a:p>
          <a:p>
            <a:pPr algn="l" marL="213360" indent="-213360">
              <a:lnSpc>
                <a:spcPct val="125000"/>
              </a:lnSpc>
              <a:buSzPct val="100000"/>
              <a:buChar char="•"/>
            </a:pPr>
            <a:r>
              <a:rPr lang="en-US" sz="1050" dirty="0">
                <a:solidFill>
                  <a:srgbClr val="BFBFBF"/>
                </a:solidFill>
                <a:latin typeface="Open Sans" pitchFamily="34" charset="0"/>
                <a:ea typeface="Open Sans" pitchFamily="34" charset="-122"/>
                <a:cs typeface="Open Sans" pitchFamily="34" charset="-120"/>
              </a:rPr>
              <a:t>Docker Compose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0023" y="497756"/>
            <a:ext cx="8063954" cy="467097"/>
          </a:xfrm>
          <a:prstGeom prst="rect">
            <a:avLst/>
          </a:prstGeom>
          <a:noFill/>
          <a:ln/>
        </p:spPr>
        <p:txBody>
          <a:bodyPr wrap="none" lIns="0" tIns="0" rIns="0" bIns="0" rtlCol="0" anchor="t"/>
          <a:lstStyle/>
          <a:p>
            <a:pPr algn="l" indent="0" marL="0">
              <a:lnSpc>
                <a:spcPct val="104000"/>
              </a:lnSpc>
              <a:buNone/>
            </a:pPr>
            <a:r>
              <a:rPr lang="en-US" sz="2900" dirty="0">
                <a:solidFill>
                  <a:srgbClr val="FEFEFE"/>
                </a:solidFill>
                <a:latin typeface="Instrument Sans Medium" pitchFamily="34" charset="0"/>
                <a:ea typeface="Instrument Sans Medium" pitchFamily="34" charset="-122"/>
                <a:cs typeface="Instrument Sans Medium" pitchFamily="34" charset="-120"/>
              </a:rPr>
              <a:t>System Workflow &amp; Architecture</a:t>
            </a:r>
            <a:endParaRPr lang="en-US" sz="2900" dirty="0"/>
          </a:p>
        </p:txBody>
      </p:sp>
      <p:sp>
        <p:nvSpPr>
          <p:cNvPr id="3" name="Text 1"/>
          <p:cNvSpPr/>
          <p:nvPr/>
        </p:nvSpPr>
        <p:spPr>
          <a:xfrm>
            <a:off x="540023" y="1254472"/>
            <a:ext cx="8063954" cy="706338"/>
          </a:xfrm>
          <a:prstGeom prst="rect">
            <a:avLst/>
          </a:prstGeom>
          <a:noFill/>
          <a:ln/>
        </p:spPr>
        <p:txBody>
          <a:bodyPr wrap="square" lIns="0" tIns="0" rIns="0" bIns="0" rtlCol="0" anchor="t">
            <a:normAutofit/>
          </a:bodyPr>
          <a:lstStyle/>
          <a:p>
            <a:pPr algn="l" indent="0" marL="0">
              <a:lnSpc>
                <a:spcPct val="131000"/>
              </a:lnSpc>
              <a:buNone/>
            </a:pPr>
            <a:r>
              <a:rPr lang="en-US" sz="1150" dirty="0">
                <a:solidFill>
                  <a:srgbClr val="BFBFBF"/>
                </a:solidFill>
                <a:latin typeface="Open Sans" pitchFamily="34" charset="0"/>
                <a:ea typeface="Open Sans" pitchFamily="34" charset="-122"/>
                <a:cs typeface="Open Sans" pitchFamily="34" charset="-120"/>
              </a:rPr>
              <a:t>The system uses a secure, layered workflow where the frontend handles user interaction, the backend manages logic, authentication protects access, and storage is split between database metadata and encrypted file handling with integrity verification.</a:t>
            </a:r>
            <a:endParaRPr lang="en-US" sz="1150" dirty="0"/>
          </a:p>
        </p:txBody>
      </p:sp>
      <p:sp>
        <p:nvSpPr>
          <p:cNvPr id="4" name="Text 2"/>
          <p:cNvSpPr/>
          <p:nvPr/>
        </p:nvSpPr>
        <p:spPr>
          <a:xfrm>
            <a:off x="540023" y="2268513"/>
            <a:ext cx="3849663" cy="280243"/>
          </a:xfrm>
          <a:prstGeom prst="rect">
            <a:avLst/>
          </a:prstGeom>
          <a:noFill/>
          <a:ln/>
        </p:spPr>
        <p:txBody>
          <a:bodyPr wrap="none" lIns="0" tIns="0" rIns="0" bIns="0" rtlCol="0" anchor="t"/>
          <a:lstStyle/>
          <a:p>
            <a:pPr algn="l" indent="0" marL="0">
              <a:lnSpc>
                <a:spcPct val="104000"/>
              </a:lnSpc>
              <a:buNone/>
            </a:pPr>
            <a:r>
              <a:rPr lang="en-US" sz="1750" dirty="0">
                <a:solidFill>
                  <a:srgbClr val="FEFEFE"/>
                </a:solidFill>
                <a:latin typeface="Instrument Sans Medium" pitchFamily="34" charset="0"/>
                <a:ea typeface="Instrument Sans Medium" pitchFamily="34" charset="-122"/>
                <a:cs typeface="Instrument Sans Medium" pitchFamily="34" charset="-120"/>
              </a:rPr>
              <a:t>Security Mechanisms</a:t>
            </a:r>
            <a:endParaRPr lang="en-US" sz="1750" dirty="0"/>
          </a:p>
        </p:txBody>
      </p:sp>
      <p:sp>
        <p:nvSpPr>
          <p:cNvPr id="5" name="Text 3"/>
          <p:cNvSpPr/>
          <p:nvPr/>
        </p:nvSpPr>
        <p:spPr>
          <a:xfrm>
            <a:off x="540023" y="2693566"/>
            <a:ext cx="3849663" cy="1379934"/>
          </a:xfrm>
          <a:prstGeom prst="rect">
            <a:avLst/>
          </a:prstGeom>
          <a:noFill/>
          <a:ln/>
        </p:spPr>
        <p:txBody>
          <a:bodyPr wrap="square" lIns="0" tIns="0" rIns="0" bIns="0" rtlCol="0" anchor="t">
            <a:normAutofit/>
          </a:bodyPr>
          <a:lstStyle/>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JWT-based session authentication</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bcrypt password hashing</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Two-Factor Authentication (TOTP)</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SHA-256 integrity check</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Activity logging for audit trails</a:t>
            </a:r>
            <a:endParaRPr lang="en-US" sz="1150" dirty="0"/>
          </a:p>
        </p:txBody>
      </p:sp>
      <p:sp>
        <p:nvSpPr>
          <p:cNvPr id="6" name="Text 4"/>
          <p:cNvSpPr/>
          <p:nvPr/>
        </p:nvSpPr>
        <p:spPr>
          <a:xfrm>
            <a:off x="4759077" y="2268513"/>
            <a:ext cx="3849663" cy="280243"/>
          </a:xfrm>
          <a:prstGeom prst="rect">
            <a:avLst/>
          </a:prstGeom>
          <a:noFill/>
          <a:ln/>
        </p:spPr>
        <p:txBody>
          <a:bodyPr wrap="none" lIns="0" tIns="0" rIns="0" bIns="0" rtlCol="0" anchor="t"/>
          <a:lstStyle/>
          <a:p>
            <a:pPr algn="l" indent="0" marL="0">
              <a:lnSpc>
                <a:spcPct val="104000"/>
              </a:lnSpc>
              <a:buNone/>
            </a:pPr>
            <a:r>
              <a:rPr lang="en-US" sz="1750" dirty="0">
                <a:solidFill>
                  <a:srgbClr val="FEFEFE"/>
                </a:solidFill>
                <a:latin typeface="Instrument Sans Medium" pitchFamily="34" charset="0"/>
                <a:ea typeface="Instrument Sans Medium" pitchFamily="34" charset="-122"/>
                <a:cs typeface="Instrument Sans Medium" pitchFamily="34" charset="-120"/>
              </a:rPr>
              <a:t>Data Flow</a:t>
            </a:r>
            <a:endParaRPr lang="en-US" sz="1750" dirty="0"/>
          </a:p>
        </p:txBody>
      </p:sp>
      <p:sp>
        <p:nvSpPr>
          <p:cNvPr id="7" name="Text 5"/>
          <p:cNvSpPr/>
          <p:nvPr/>
        </p:nvSpPr>
        <p:spPr>
          <a:xfrm>
            <a:off x="4759077" y="2693566"/>
            <a:ext cx="3849663" cy="1901503"/>
          </a:xfrm>
          <a:prstGeom prst="rect">
            <a:avLst/>
          </a:prstGeom>
          <a:noFill/>
          <a:ln/>
        </p:spPr>
        <p:txBody>
          <a:bodyPr wrap="square" lIns="0" tIns="0" rIns="0" bIns="0" rtlCol="0" anchor="t">
            <a:normAutofit/>
          </a:bodyPr>
          <a:lstStyle/>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Users authenticate via React frontend</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Backend validates credentials and issues JWT tokens</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File metadata stored in MySQL</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Files uploaded to and retrieved from AWS S3</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SHA-256 hashes verify file integrity on retrieval</a:t>
            </a:r>
            <a:endParaRPr lang="en-US" sz="1150" dirty="0"/>
          </a:p>
          <a:p>
            <a:pPr algn="l" marL="233680" indent="-233680">
              <a:lnSpc>
                <a:spcPct val="131000"/>
              </a:lnSpc>
              <a:buSzPct val="100000"/>
              <a:buChar char="•"/>
            </a:pPr>
            <a:r>
              <a:rPr lang="en-US" sz="1150" dirty="0">
                <a:solidFill>
                  <a:srgbClr val="BFBFBF"/>
                </a:solidFill>
                <a:latin typeface="Open Sans" pitchFamily="34" charset="0"/>
                <a:ea typeface="Open Sans" pitchFamily="34" charset="-122"/>
                <a:cs typeface="Open Sans" pitchFamily="34" charset="-120"/>
              </a:rPr>
              <a:t>Pre-signed URLs provide secure, time-limited access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0023" y="450354"/>
            <a:ext cx="8063954" cy="331515"/>
          </a:xfrm>
          <a:prstGeom prst="rect">
            <a:avLst/>
          </a:prstGeom>
          <a:noFill/>
          <a:ln/>
        </p:spPr>
        <p:txBody>
          <a:bodyPr wrap="none" lIns="0" tIns="0" rIns="0" bIns="0" rtlCol="0" anchor="t"/>
          <a:lstStyle/>
          <a:p>
            <a:pPr algn="l" indent="0" marL="0">
              <a:lnSpc>
                <a:spcPct val="104000"/>
              </a:lnSpc>
              <a:buNone/>
            </a:pPr>
            <a:r>
              <a:rPr lang="en-US" sz="2050" dirty="0">
                <a:solidFill>
                  <a:srgbClr val="FEFEFE"/>
                </a:solidFill>
                <a:latin typeface="Instrument Sans Medium" pitchFamily="34" charset="0"/>
                <a:ea typeface="Instrument Sans Medium" pitchFamily="34" charset="-122"/>
                <a:cs typeface="Instrument Sans Medium" pitchFamily="34" charset="-120"/>
              </a:rPr>
              <a:t>Key Features &amp; Real-World Applications</a:t>
            </a:r>
            <a:endParaRPr lang="en-US" sz="2050" dirty="0"/>
          </a:p>
        </p:txBody>
      </p:sp>
      <p:sp>
        <p:nvSpPr>
          <p:cNvPr id="3" name="Text 1"/>
          <p:cNvSpPr/>
          <p:nvPr/>
        </p:nvSpPr>
        <p:spPr>
          <a:xfrm>
            <a:off x="540023" y="811039"/>
            <a:ext cx="8063954" cy="165720"/>
          </a:xfrm>
          <a:prstGeom prst="rect">
            <a:avLst/>
          </a:prstGeom>
          <a:noFill/>
          <a:ln/>
        </p:spPr>
        <p:txBody>
          <a:bodyPr wrap="none" lIns="0" tIns="0" rIns="0" bIns="0" rtlCol="0" anchor="t"/>
          <a:lstStyle/>
          <a:p>
            <a:pPr algn="l" indent="0" marL="0">
              <a:lnSpc>
                <a:spcPct val="104000"/>
              </a:lnSpc>
              <a:buNone/>
            </a:pPr>
            <a:r>
              <a:rPr lang="en-US" sz="1000" dirty="0">
                <a:solidFill>
                  <a:srgbClr val="FEFEFE"/>
                </a:solidFill>
                <a:latin typeface="Instrument Sans Medium" pitchFamily="34" charset="0"/>
                <a:ea typeface="Instrument Sans Medium" pitchFamily="34" charset="-122"/>
                <a:cs typeface="Instrument Sans Medium" pitchFamily="34" charset="-120"/>
              </a:rPr>
              <a:t>Implemented Features</a:t>
            </a:r>
            <a:endParaRPr lang="en-US" sz="10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9760" y="1091394"/>
            <a:ext cx="159097" cy="159097"/>
          </a:xfrm>
          <a:prstGeom prst="rect">
            <a:avLst/>
          </a:prstGeom>
        </p:spPr>
      </p:pic>
      <p:sp>
        <p:nvSpPr>
          <p:cNvPr id="5" name="Text 2"/>
          <p:cNvSpPr/>
          <p:nvPr/>
        </p:nvSpPr>
        <p:spPr>
          <a:xfrm>
            <a:off x="884709" y="1086148"/>
            <a:ext cx="7719268" cy="143247"/>
          </a:xfrm>
          <a:prstGeom prst="rect">
            <a:avLst/>
          </a:prstGeom>
          <a:noFill/>
          <a:ln/>
        </p:spPr>
        <p:txBody>
          <a:bodyPr wrap="none" lIns="0" tIns="0" rIns="0" bIns="0" rtlCol="0" anchor="t"/>
          <a:lstStyle/>
          <a:p>
            <a:pPr algn="l" indent="0" marL="0">
              <a:lnSpc>
                <a:spcPct val="113000"/>
              </a:lnSpc>
              <a:buNone/>
            </a:pPr>
            <a:r>
              <a:rPr lang="en-US" sz="800" dirty="0">
                <a:solidFill>
                  <a:srgbClr val="BFBFBF"/>
                </a:solidFill>
                <a:latin typeface="Open Sans" pitchFamily="34" charset="0"/>
                <a:ea typeface="Open Sans" pitchFamily="34" charset="-122"/>
                <a:cs typeface="Open Sans" pitchFamily="34" charset="-120"/>
              </a:rPr>
              <a:t>User Registration &amp; Secure Login</a:t>
            </a:r>
            <a:endParaRPr lang="en-US" sz="8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760" y="1560723"/>
            <a:ext cx="159097" cy="159097"/>
          </a:xfrm>
          <a:prstGeom prst="rect">
            <a:avLst/>
          </a:prstGeom>
        </p:spPr>
      </p:pic>
      <p:sp>
        <p:nvSpPr>
          <p:cNvPr id="7" name="Text 3"/>
          <p:cNvSpPr/>
          <p:nvPr/>
        </p:nvSpPr>
        <p:spPr>
          <a:xfrm>
            <a:off x="884709" y="1555477"/>
            <a:ext cx="7719268" cy="143247"/>
          </a:xfrm>
          <a:prstGeom prst="rect">
            <a:avLst/>
          </a:prstGeom>
          <a:noFill/>
          <a:ln/>
        </p:spPr>
        <p:txBody>
          <a:bodyPr wrap="none" lIns="0" tIns="0" rIns="0" bIns="0" rtlCol="0" anchor="t"/>
          <a:lstStyle/>
          <a:p>
            <a:pPr algn="l" indent="0" marL="0">
              <a:lnSpc>
                <a:spcPct val="113000"/>
              </a:lnSpc>
              <a:buNone/>
            </a:pPr>
            <a:r>
              <a:rPr lang="en-US" sz="800" dirty="0">
                <a:solidFill>
                  <a:srgbClr val="BFBFBF"/>
                </a:solidFill>
                <a:latin typeface="Open Sans" pitchFamily="34" charset="0"/>
                <a:ea typeface="Open Sans" pitchFamily="34" charset="-122"/>
                <a:cs typeface="Open Sans" pitchFamily="34" charset="-120"/>
              </a:rPr>
              <a:t>JWT Authentication &amp; Two-Factor Authentication</a:t>
            </a:r>
            <a:endParaRPr lang="en-US" sz="80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9760" y="2030053"/>
            <a:ext cx="159097" cy="159097"/>
          </a:xfrm>
          <a:prstGeom prst="rect">
            <a:avLst/>
          </a:prstGeom>
        </p:spPr>
      </p:pic>
      <p:sp>
        <p:nvSpPr>
          <p:cNvPr id="9" name="Text 4"/>
          <p:cNvSpPr/>
          <p:nvPr/>
        </p:nvSpPr>
        <p:spPr>
          <a:xfrm>
            <a:off x="884709" y="2024807"/>
            <a:ext cx="7719268" cy="143247"/>
          </a:xfrm>
          <a:prstGeom prst="rect">
            <a:avLst/>
          </a:prstGeom>
          <a:noFill/>
          <a:ln/>
        </p:spPr>
        <p:txBody>
          <a:bodyPr wrap="none" lIns="0" tIns="0" rIns="0" bIns="0" rtlCol="0" anchor="t"/>
          <a:lstStyle/>
          <a:p>
            <a:pPr algn="l" indent="0" marL="0">
              <a:lnSpc>
                <a:spcPct val="113000"/>
              </a:lnSpc>
              <a:buNone/>
            </a:pPr>
            <a:r>
              <a:rPr lang="en-US" sz="800" dirty="0">
                <a:solidFill>
                  <a:srgbClr val="BFBFBF"/>
                </a:solidFill>
                <a:latin typeface="Open Sans" pitchFamily="34" charset="0"/>
                <a:ea typeface="Open Sans" pitchFamily="34" charset="-122"/>
                <a:cs typeface="Open Sans" pitchFamily="34" charset="-120"/>
              </a:rPr>
              <a:t>Secure File Upload, Download &amp; Deletion</a:t>
            </a:r>
            <a:endParaRPr lang="en-US" sz="800" dirty="0"/>
          </a:p>
        </p:txBody>
      </p:sp>
      <p:pic>
        <p:nvPicPr>
          <p:cNvPr id="1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9760" y="2499382"/>
            <a:ext cx="159097" cy="159097"/>
          </a:xfrm>
          <a:prstGeom prst="rect">
            <a:avLst/>
          </a:prstGeom>
        </p:spPr>
      </p:pic>
      <p:sp>
        <p:nvSpPr>
          <p:cNvPr id="11" name="Text 5"/>
          <p:cNvSpPr/>
          <p:nvPr/>
        </p:nvSpPr>
        <p:spPr>
          <a:xfrm>
            <a:off x="884709" y="2494136"/>
            <a:ext cx="7719268" cy="143247"/>
          </a:xfrm>
          <a:prstGeom prst="rect">
            <a:avLst/>
          </a:prstGeom>
          <a:noFill/>
          <a:ln/>
        </p:spPr>
        <p:txBody>
          <a:bodyPr wrap="none" lIns="0" tIns="0" rIns="0" bIns="0" rtlCol="0" anchor="t"/>
          <a:lstStyle/>
          <a:p>
            <a:pPr algn="l" indent="0" marL="0">
              <a:lnSpc>
                <a:spcPct val="113000"/>
              </a:lnSpc>
              <a:buNone/>
            </a:pPr>
            <a:r>
              <a:rPr lang="en-US" sz="800" dirty="0">
                <a:solidFill>
                  <a:srgbClr val="BFBFBF"/>
                </a:solidFill>
                <a:latin typeface="Open Sans" pitchFamily="34" charset="0"/>
                <a:ea typeface="Open Sans" pitchFamily="34" charset="-122"/>
                <a:cs typeface="Open Sans" pitchFamily="34" charset="-120"/>
              </a:rPr>
              <a:t>AWS S3 Integration &amp; SHA-256 File Integrity Verification</a:t>
            </a:r>
            <a:endParaRPr lang="en-US" sz="80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79760" y="2968712"/>
            <a:ext cx="159097" cy="159097"/>
          </a:xfrm>
          <a:prstGeom prst="rect">
            <a:avLst/>
          </a:prstGeom>
        </p:spPr>
      </p:pic>
      <p:sp>
        <p:nvSpPr>
          <p:cNvPr id="13" name="Text 6"/>
          <p:cNvSpPr/>
          <p:nvPr/>
        </p:nvSpPr>
        <p:spPr>
          <a:xfrm>
            <a:off x="884709" y="2963466"/>
            <a:ext cx="7719268" cy="143247"/>
          </a:xfrm>
          <a:prstGeom prst="rect">
            <a:avLst/>
          </a:prstGeom>
          <a:noFill/>
          <a:ln/>
        </p:spPr>
        <p:txBody>
          <a:bodyPr wrap="none" lIns="0" tIns="0" rIns="0" bIns="0" rtlCol="0" anchor="t"/>
          <a:lstStyle/>
          <a:p>
            <a:pPr algn="l" indent="0" marL="0">
              <a:lnSpc>
                <a:spcPct val="113000"/>
              </a:lnSpc>
              <a:buNone/>
            </a:pPr>
            <a:r>
              <a:rPr lang="en-US" sz="800" dirty="0">
                <a:solidFill>
                  <a:srgbClr val="BFBFBF"/>
                </a:solidFill>
                <a:latin typeface="Open Sans" pitchFamily="34" charset="0"/>
                <a:ea typeface="Open Sans" pitchFamily="34" charset="-122"/>
                <a:cs typeface="Open Sans" pitchFamily="34" charset="-120"/>
              </a:rPr>
              <a:t>Activity Logging &amp; Dockerized Deployment</a:t>
            </a:r>
            <a:endParaRPr lang="en-US" sz="800" dirty="0"/>
          </a:p>
        </p:txBody>
      </p:sp>
      <p:sp>
        <p:nvSpPr>
          <p:cNvPr id="14" name="Text 7"/>
          <p:cNvSpPr/>
          <p:nvPr/>
        </p:nvSpPr>
        <p:spPr>
          <a:xfrm>
            <a:off x="540023" y="3441874"/>
            <a:ext cx="3902571" cy="165720"/>
          </a:xfrm>
          <a:prstGeom prst="rect">
            <a:avLst/>
          </a:prstGeom>
          <a:noFill/>
          <a:ln/>
        </p:spPr>
        <p:txBody>
          <a:bodyPr wrap="none" lIns="0" tIns="0" rIns="0" bIns="0" rtlCol="0" anchor="t"/>
          <a:lstStyle/>
          <a:p>
            <a:pPr algn="l" indent="0" marL="0">
              <a:lnSpc>
                <a:spcPct val="104000"/>
              </a:lnSpc>
              <a:buNone/>
            </a:pPr>
            <a:r>
              <a:rPr lang="en-US" sz="1000" dirty="0">
                <a:solidFill>
                  <a:srgbClr val="FEFEFE"/>
                </a:solidFill>
                <a:latin typeface="Instrument Sans Medium" pitchFamily="34" charset="0"/>
                <a:ea typeface="Instrument Sans Medium" pitchFamily="34" charset="-122"/>
                <a:cs typeface="Instrument Sans Medium" pitchFamily="34" charset="-120"/>
              </a:rPr>
              <a:t>Real-World Applications</a:t>
            </a:r>
            <a:endParaRPr lang="en-US" sz="1000" dirty="0"/>
          </a:p>
        </p:txBody>
      </p:sp>
      <p:sp>
        <p:nvSpPr>
          <p:cNvPr id="15" name="Text 8"/>
          <p:cNvSpPr/>
          <p:nvPr/>
        </p:nvSpPr>
        <p:spPr>
          <a:xfrm>
            <a:off x="540023" y="3680520"/>
            <a:ext cx="3902571" cy="987103"/>
          </a:xfrm>
          <a:prstGeom prst="rect">
            <a:avLst/>
          </a:prstGeom>
          <a:noFill/>
          <a:ln/>
        </p:spPr>
        <p:txBody>
          <a:bodyPr wrap="square" lIns="0" tIns="0" rIns="0" bIns="0" rtlCol="0" anchor="t">
            <a:normAutofit/>
          </a:bodyPr>
          <a:lstStyle/>
          <a:p>
            <a:pPr algn="l" marL="162560" indent="-162560">
              <a:lnSpc>
                <a:spcPct val="113000"/>
              </a:lnSpc>
              <a:buSzPct val="100000"/>
              <a:buChar char="•"/>
            </a:pPr>
            <a:r>
              <a:rPr lang="en-US" sz="800" dirty="0">
                <a:solidFill>
                  <a:srgbClr val="BFBFBF"/>
                </a:solidFill>
                <a:latin typeface="Open Sans" pitchFamily="34" charset="0"/>
                <a:ea typeface="Open Sans" pitchFamily="34" charset="-122"/>
                <a:cs typeface="Open Sans" pitchFamily="34" charset="-120"/>
              </a:rPr>
              <a:t>Enterprise Secure Document Storage</a:t>
            </a:r>
            <a:endParaRPr lang="en-US" sz="800" dirty="0"/>
          </a:p>
          <a:p>
            <a:pPr algn="l" marL="162560" indent="-162560">
              <a:lnSpc>
                <a:spcPct val="113000"/>
              </a:lnSpc>
              <a:buSzPct val="100000"/>
              <a:buChar char="•"/>
            </a:pPr>
            <a:r>
              <a:rPr lang="en-US" sz="800" dirty="0">
                <a:solidFill>
                  <a:srgbClr val="BFBFBF"/>
                </a:solidFill>
                <a:latin typeface="Open Sans" pitchFamily="34" charset="0"/>
                <a:ea typeface="Open Sans" pitchFamily="34" charset="-122"/>
                <a:cs typeface="Open Sans" pitchFamily="34" charset="-120"/>
              </a:rPr>
              <a:t>Healthcare Records</a:t>
            </a:r>
            <a:endParaRPr lang="en-US" sz="800" dirty="0"/>
          </a:p>
          <a:p>
            <a:pPr algn="l" marL="162560" indent="-162560">
              <a:lnSpc>
                <a:spcPct val="113000"/>
              </a:lnSpc>
              <a:buSzPct val="100000"/>
              <a:buChar char="•"/>
            </a:pPr>
            <a:r>
              <a:rPr lang="en-US" sz="800" dirty="0">
                <a:solidFill>
                  <a:srgbClr val="BFBFBF"/>
                </a:solidFill>
                <a:latin typeface="Open Sans" pitchFamily="34" charset="0"/>
                <a:ea typeface="Open Sans" pitchFamily="34" charset="-122"/>
                <a:cs typeface="Open Sans" pitchFamily="34" charset="-120"/>
              </a:rPr>
              <a:t>Banking &amp; Financial Documents</a:t>
            </a:r>
            <a:endParaRPr lang="en-US" sz="800" dirty="0"/>
          </a:p>
          <a:p>
            <a:pPr algn="l" marL="162560" indent="-162560">
              <a:lnSpc>
                <a:spcPct val="113000"/>
              </a:lnSpc>
              <a:buSzPct val="100000"/>
              <a:buChar char="•"/>
            </a:pPr>
            <a:r>
              <a:rPr lang="en-US" sz="800" dirty="0">
                <a:solidFill>
                  <a:srgbClr val="BFBFBF"/>
                </a:solidFill>
                <a:latin typeface="Open Sans" pitchFamily="34" charset="0"/>
                <a:ea typeface="Open Sans" pitchFamily="34" charset="-122"/>
                <a:cs typeface="Open Sans" pitchFamily="34" charset="-120"/>
              </a:rPr>
              <a:t>Legal Case Files</a:t>
            </a:r>
            <a:endParaRPr lang="en-US" sz="800" dirty="0"/>
          </a:p>
          <a:p>
            <a:pPr algn="l" marL="162560" indent="-162560">
              <a:lnSpc>
                <a:spcPct val="113000"/>
              </a:lnSpc>
              <a:buSzPct val="100000"/>
              <a:buChar char="•"/>
            </a:pPr>
            <a:r>
              <a:rPr lang="en-US" sz="800" dirty="0">
                <a:solidFill>
                  <a:srgbClr val="BFBFBF"/>
                </a:solidFill>
                <a:latin typeface="Open Sans" pitchFamily="34" charset="0"/>
                <a:ea typeface="Open Sans" pitchFamily="34" charset="-122"/>
                <a:cs typeface="Open Sans" pitchFamily="34" charset="-120"/>
              </a:rPr>
              <a:t>Government Confidential Data</a:t>
            </a:r>
            <a:endParaRPr lang="en-US" sz="800" dirty="0"/>
          </a:p>
          <a:p>
            <a:pPr algn="l" marL="162560" indent="-162560">
              <a:lnSpc>
                <a:spcPct val="113000"/>
              </a:lnSpc>
              <a:buSzPct val="100000"/>
              <a:buChar char="•"/>
            </a:pPr>
            <a:r>
              <a:rPr lang="en-US" sz="800" dirty="0">
                <a:solidFill>
                  <a:srgbClr val="BFBFBF"/>
                </a:solidFill>
                <a:latin typeface="Open Sans" pitchFamily="34" charset="0"/>
                <a:ea typeface="Open Sans" pitchFamily="34" charset="-122"/>
                <a:cs typeface="Open Sans" pitchFamily="34" charset="-120"/>
              </a:rPr>
              <a:t>Educational Document Repository</a:t>
            </a:r>
            <a:endParaRPr lang="en-US" sz="800" dirty="0"/>
          </a:p>
        </p:txBody>
      </p:sp>
      <p:sp>
        <p:nvSpPr>
          <p:cNvPr id="16" name="Shape 9"/>
          <p:cNvSpPr/>
          <p:nvPr/>
        </p:nvSpPr>
        <p:spPr>
          <a:xfrm>
            <a:off x="4629745" y="3368948"/>
            <a:ext cx="4055418" cy="1324198"/>
          </a:xfrm>
          <a:prstGeom prst="roundRect">
            <a:avLst>
              <a:gd name="adj" fmla="val 1202"/>
            </a:avLst>
          </a:prstGeom>
          <a:solidFill>
            <a:srgbClr val="F5F547"/>
          </a:solidFill>
          <a:ln/>
        </p:spPr>
      </p:sp>
      <p:sp>
        <p:nvSpPr>
          <p:cNvPr id="17" name="Text 10"/>
          <p:cNvSpPr/>
          <p:nvPr/>
        </p:nvSpPr>
        <p:spPr>
          <a:xfrm>
            <a:off x="4735785" y="3441874"/>
            <a:ext cx="3843338" cy="165720"/>
          </a:xfrm>
          <a:prstGeom prst="rect">
            <a:avLst/>
          </a:prstGeom>
          <a:noFill/>
          <a:ln/>
        </p:spPr>
        <p:txBody>
          <a:bodyPr wrap="none" lIns="0" tIns="0" rIns="0" bIns="0" rtlCol="0" anchor="t"/>
          <a:lstStyle/>
          <a:p>
            <a:pPr algn="l" indent="0" marL="0">
              <a:lnSpc>
                <a:spcPct val="104000"/>
              </a:lnSpc>
              <a:buNone/>
            </a:pPr>
            <a:r>
              <a:rPr lang="en-US" sz="1000" dirty="0">
                <a:solidFill>
                  <a:srgbClr val="000000"/>
                </a:solidFill>
                <a:latin typeface="Instrument Sans Medium" pitchFamily="34" charset="0"/>
                <a:ea typeface="Instrument Sans Medium" pitchFamily="34" charset="-122"/>
                <a:cs typeface="Instrument Sans Medium" pitchFamily="34" charset="-120"/>
              </a:rPr>
              <a:t>Similar Enterprise Solutions</a:t>
            </a:r>
            <a:endParaRPr lang="en-US" sz="1000" dirty="0"/>
          </a:p>
        </p:txBody>
      </p:sp>
      <p:sp>
        <p:nvSpPr>
          <p:cNvPr id="18" name="Text 11"/>
          <p:cNvSpPr/>
          <p:nvPr/>
        </p:nvSpPr>
        <p:spPr>
          <a:xfrm>
            <a:off x="4735785" y="3680520"/>
            <a:ext cx="3843338" cy="649560"/>
          </a:xfrm>
          <a:prstGeom prst="rect">
            <a:avLst/>
          </a:prstGeom>
          <a:noFill/>
          <a:ln/>
        </p:spPr>
        <p:txBody>
          <a:bodyPr wrap="square" lIns="0" tIns="0" rIns="0" bIns="0" rtlCol="0" anchor="t">
            <a:normAutofit/>
          </a:bodyPr>
          <a:lstStyle/>
          <a:p>
            <a:pPr algn="l" marL="162560" indent="-162560">
              <a:lnSpc>
                <a:spcPct val="113000"/>
              </a:lnSpc>
              <a:buSzPct val="100000"/>
              <a:buChar char="•"/>
            </a:pPr>
            <a:r>
              <a:rPr lang="en-US" sz="800" dirty="0">
                <a:solidFill>
                  <a:srgbClr val="000000"/>
                </a:solidFill>
                <a:latin typeface="Open Sans" pitchFamily="34" charset="0"/>
                <a:ea typeface="Open Sans" pitchFamily="34" charset="-122"/>
                <a:cs typeface="Open Sans" pitchFamily="34" charset="-120"/>
              </a:rPr>
              <a:t>HashiCorp Vault (Secret Management)</a:t>
            </a:r>
            <a:endParaRPr lang="en-US" sz="800" dirty="0"/>
          </a:p>
          <a:p>
            <a:pPr algn="l" marL="162560" indent="-162560">
              <a:lnSpc>
                <a:spcPct val="113000"/>
              </a:lnSpc>
              <a:buSzPct val="100000"/>
              <a:buChar char="•"/>
            </a:pPr>
            <a:r>
              <a:rPr lang="en-US" sz="800" dirty="0">
                <a:solidFill>
                  <a:srgbClr val="000000"/>
                </a:solidFill>
                <a:latin typeface="Open Sans" pitchFamily="34" charset="0"/>
                <a:ea typeface="Open Sans" pitchFamily="34" charset="-122"/>
                <a:cs typeface="Open Sans" pitchFamily="34" charset="-120"/>
              </a:rPr>
              <a:t>AWS Secrets Manager</a:t>
            </a:r>
            <a:endParaRPr lang="en-US" sz="800" dirty="0"/>
          </a:p>
          <a:p>
            <a:pPr algn="l" marL="162560" indent="-162560">
              <a:lnSpc>
                <a:spcPct val="113000"/>
              </a:lnSpc>
              <a:buSzPct val="100000"/>
              <a:buChar char="•"/>
            </a:pPr>
            <a:r>
              <a:rPr lang="en-US" sz="800" dirty="0">
                <a:solidFill>
                  <a:srgbClr val="000000"/>
                </a:solidFill>
                <a:latin typeface="Open Sans" pitchFamily="34" charset="0"/>
                <a:ea typeface="Open Sans" pitchFamily="34" charset="-122"/>
                <a:cs typeface="Open Sans" pitchFamily="34" charset="-120"/>
              </a:rPr>
              <a:t>Azure Key Vault</a:t>
            </a:r>
            <a:endParaRPr lang="en-US" sz="800" dirty="0"/>
          </a:p>
          <a:p>
            <a:pPr algn="l" marL="162560" indent="-162560">
              <a:lnSpc>
                <a:spcPct val="113000"/>
              </a:lnSpc>
              <a:buSzPct val="100000"/>
              <a:buChar char="•"/>
            </a:pPr>
            <a:r>
              <a:rPr lang="en-US" sz="800" dirty="0">
                <a:solidFill>
                  <a:srgbClr val="000000"/>
                </a:solidFill>
                <a:latin typeface="Open Sans" pitchFamily="34" charset="0"/>
                <a:ea typeface="Open Sans" pitchFamily="34" charset="-122"/>
                <a:cs typeface="Open Sans" pitchFamily="34" charset="-120"/>
              </a:rPr>
              <a:t>Google Secret Manager</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69023" y="548060"/>
            <a:ext cx="4634954" cy="361652"/>
          </a:xfrm>
          <a:prstGeom prst="rect">
            <a:avLst/>
          </a:prstGeom>
          <a:noFill/>
          <a:ln/>
        </p:spPr>
        <p:txBody>
          <a:bodyPr wrap="none" lIns="0" tIns="0" rIns="0" bIns="0" rtlCol="0" anchor="t"/>
          <a:lstStyle/>
          <a:p>
            <a:pPr algn="l" indent="0" marL="0">
              <a:lnSpc>
                <a:spcPct val="104000"/>
              </a:lnSpc>
              <a:buNone/>
            </a:pPr>
            <a:r>
              <a:rPr lang="en-US" sz="2250" dirty="0">
                <a:solidFill>
                  <a:srgbClr val="FEFEFE"/>
                </a:solidFill>
                <a:latin typeface="Instrument Sans Medium" pitchFamily="34" charset="0"/>
                <a:ea typeface="Instrument Sans Medium" pitchFamily="34" charset="-122"/>
                <a:cs typeface="Instrument Sans Medium" pitchFamily="34" charset="-120"/>
              </a:rPr>
              <a:t>Future Enhancements</a:t>
            </a:r>
            <a:endParaRPr lang="en-US" sz="22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69023" y="1039862"/>
            <a:ext cx="4634954" cy="1363563"/>
          </a:xfrm>
          <a:prstGeom prst="rect">
            <a:avLst/>
          </a:prstGeom>
        </p:spPr>
      </p:pic>
      <p:pic>
        <p:nvPicPr>
          <p:cNvPr id="5"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27971" y="1634803"/>
            <a:ext cx="173534" cy="173534"/>
          </a:xfrm>
          <a:prstGeom prst="rect">
            <a:avLst/>
          </a:prstGeom>
        </p:spPr>
      </p:pic>
      <p:sp>
        <p:nvSpPr>
          <p:cNvPr id="6" name="Text 1"/>
          <p:cNvSpPr/>
          <p:nvPr/>
        </p:nvSpPr>
        <p:spPr>
          <a:xfrm>
            <a:off x="4532933" y="1169863"/>
            <a:ext cx="3941043" cy="180826"/>
          </a:xfrm>
          <a:prstGeom prst="rect">
            <a:avLst/>
          </a:prstGeom>
          <a:noFill/>
          <a:ln/>
        </p:spPr>
        <p:txBody>
          <a:bodyPr wrap="none" lIns="0" tIns="0" rIns="0" bIns="0" rtlCol="0" anchor="t"/>
          <a:lstStyle/>
          <a:p>
            <a:pPr algn="l" indent="0" marL="0">
              <a:lnSpc>
                <a:spcPct val="104000"/>
              </a:lnSpc>
              <a:buNone/>
            </a:pPr>
            <a:r>
              <a:rPr lang="en-US" sz="1100" dirty="0">
                <a:solidFill>
                  <a:srgbClr val="BFBFBF"/>
                </a:solidFill>
                <a:latin typeface="Instrument Sans Medium" pitchFamily="34" charset="0"/>
                <a:ea typeface="Instrument Sans Medium" pitchFamily="34" charset="-122"/>
                <a:cs typeface="Instrument Sans Medium" pitchFamily="34" charset="-120"/>
              </a:rPr>
              <a:t>Enhanced Security</a:t>
            </a:r>
            <a:endParaRPr lang="en-US" sz="1100" dirty="0"/>
          </a:p>
        </p:txBody>
      </p:sp>
      <p:sp>
        <p:nvSpPr>
          <p:cNvPr id="7" name="Text 2"/>
          <p:cNvSpPr/>
          <p:nvPr/>
        </p:nvSpPr>
        <p:spPr>
          <a:xfrm>
            <a:off x="4532933" y="1402705"/>
            <a:ext cx="3941043" cy="870719"/>
          </a:xfrm>
          <a:prstGeom prst="rect">
            <a:avLst/>
          </a:prstGeom>
          <a:noFill/>
          <a:ln/>
        </p:spPr>
        <p:txBody>
          <a:bodyPr wrap="square" lIns="0" tIns="0" rIns="0" bIns="0" rtlCol="0" anchor="t">
            <a:normAutofit/>
          </a:bodyPr>
          <a:lstStyle/>
          <a:p>
            <a:pPr algn="l" marL="182880" indent="-182880">
              <a:lnSpc>
                <a:spcPct val="117000"/>
              </a:lnSpc>
              <a:buSzPct val="100000"/>
              <a:buChar char="•"/>
            </a:pPr>
            <a:r>
              <a:rPr lang="en-US" sz="900" b="1" dirty="0">
                <a:solidFill>
                  <a:srgbClr val="BFBFBF"/>
                </a:solidFill>
                <a:latin typeface="Open Sans Bold" pitchFamily="34" charset="0"/>
                <a:ea typeface="Open Sans Bold" pitchFamily="34" charset="-122"/>
                <a:cs typeface="Open Sans Bold" pitchFamily="34" charset="-120"/>
              </a:rPr>
              <a:t>RBAC</a:t>
            </a:r>
            <a:pPr algn="l" marL="182880" indent="-182880">
              <a:lnSpc>
                <a:spcPct val="117000"/>
              </a:lnSpc>
              <a:buSzPct val="100000"/>
              <a:buChar char="•"/>
            </a:pPr>
            <a:r>
              <a:rPr lang="en-US" sz="900" dirty="0">
                <a:solidFill>
                  <a:srgbClr val="BFBFBF"/>
                </a:solidFill>
                <a:latin typeface="Open Sans" pitchFamily="34" charset="0"/>
                <a:ea typeface="Open Sans" pitchFamily="34" charset="-122"/>
                <a:cs typeface="Open Sans" pitchFamily="34" charset="-120"/>
              </a:rPr>
              <a:t> — Role-Based Access Control with Admin, User, and Auditor levels</a:t>
            </a:r>
            <a:endParaRPr lang="en-US" sz="900" dirty="0"/>
          </a:p>
          <a:p>
            <a:pPr algn="l" marL="182880" indent="-182880">
              <a:lnSpc>
                <a:spcPct val="117000"/>
              </a:lnSpc>
              <a:buSzPct val="100000"/>
              <a:buChar char="•"/>
            </a:pPr>
            <a:r>
              <a:rPr lang="en-US" sz="900" b="1" dirty="0">
                <a:solidFill>
                  <a:srgbClr val="BFBFBF"/>
                </a:solidFill>
                <a:latin typeface="Open Sans Bold" pitchFamily="34" charset="0"/>
                <a:ea typeface="Open Sans Bold" pitchFamily="34" charset="-122"/>
                <a:cs typeface="Open Sans Bold" pitchFamily="34" charset="-120"/>
              </a:rPr>
              <a:t>Zero Trust Model</a:t>
            </a:r>
            <a:pPr algn="l" marL="182880" indent="-182880">
              <a:lnSpc>
                <a:spcPct val="117000"/>
              </a:lnSpc>
              <a:buSzPct val="100000"/>
              <a:buChar char="•"/>
            </a:pPr>
            <a:r>
              <a:rPr lang="en-US" sz="900" dirty="0">
                <a:solidFill>
                  <a:srgbClr val="BFBFBF"/>
                </a:solidFill>
                <a:latin typeface="Open Sans" pitchFamily="34" charset="0"/>
                <a:ea typeface="Open Sans" pitchFamily="34" charset="-122"/>
                <a:cs typeface="Open Sans" pitchFamily="34" charset="-120"/>
              </a:rPr>
              <a:t> — Continuously verify users, devices, and requests</a:t>
            </a:r>
            <a:endParaRPr lang="en-US" sz="900" dirty="0"/>
          </a:p>
          <a:p>
            <a:pPr algn="l" marL="182880" indent="-182880">
              <a:lnSpc>
                <a:spcPct val="117000"/>
              </a:lnSpc>
              <a:buSzPct val="100000"/>
              <a:buChar char="•"/>
            </a:pPr>
            <a:r>
              <a:rPr lang="en-US" sz="900" b="1" dirty="0">
                <a:solidFill>
                  <a:srgbClr val="BFBFBF"/>
                </a:solidFill>
                <a:latin typeface="Open Sans Bold" pitchFamily="34" charset="0"/>
                <a:ea typeface="Open Sans Bold" pitchFamily="34" charset="-122"/>
                <a:cs typeface="Open Sans Bold" pitchFamily="34" charset="-120"/>
              </a:rPr>
              <a:t>Step-Up Authentication</a:t>
            </a:r>
            <a:pPr algn="l" marL="182880" indent="-182880">
              <a:lnSpc>
                <a:spcPct val="117000"/>
              </a:lnSpc>
              <a:buSzPct val="100000"/>
              <a:buChar char="•"/>
            </a:pPr>
            <a:r>
              <a:rPr lang="en-US" sz="900" dirty="0">
                <a:solidFill>
                  <a:srgbClr val="BFBFBF"/>
                </a:solidFill>
                <a:latin typeface="Open Sans" pitchFamily="34" charset="0"/>
                <a:ea typeface="Open Sans" pitchFamily="34" charset="-122"/>
                <a:cs typeface="Open Sans" pitchFamily="34" charset="-120"/>
              </a:rPr>
              <a:t> — OTP/Passkey/Biometric verification for sensitive downloads</a:t>
            </a:r>
            <a:endParaRPr lang="en-US" sz="9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69023" y="2490192"/>
            <a:ext cx="4634954" cy="1201564"/>
          </a:xfrm>
          <a:prstGeom prst="rect">
            <a:avLst/>
          </a:prstGeom>
        </p:spPr>
      </p:pic>
      <p:pic>
        <p:nvPicPr>
          <p:cNvPr id="9"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27971" y="3004170"/>
            <a:ext cx="173534" cy="173534"/>
          </a:xfrm>
          <a:prstGeom prst="rect">
            <a:avLst/>
          </a:prstGeom>
        </p:spPr>
      </p:pic>
      <p:sp>
        <p:nvSpPr>
          <p:cNvPr id="10" name="Text 3"/>
          <p:cNvSpPr/>
          <p:nvPr/>
        </p:nvSpPr>
        <p:spPr>
          <a:xfrm>
            <a:off x="4532933" y="2620194"/>
            <a:ext cx="3941043" cy="180826"/>
          </a:xfrm>
          <a:prstGeom prst="rect">
            <a:avLst/>
          </a:prstGeom>
          <a:noFill/>
          <a:ln/>
        </p:spPr>
        <p:txBody>
          <a:bodyPr wrap="none" lIns="0" tIns="0" rIns="0" bIns="0" rtlCol="0" anchor="t"/>
          <a:lstStyle/>
          <a:p>
            <a:pPr algn="l" indent="0" marL="0">
              <a:lnSpc>
                <a:spcPct val="104000"/>
              </a:lnSpc>
              <a:buNone/>
            </a:pPr>
            <a:r>
              <a:rPr lang="en-US" sz="1100" dirty="0">
                <a:solidFill>
                  <a:srgbClr val="BFBFBF"/>
                </a:solidFill>
                <a:latin typeface="Instrument Sans Medium" pitchFamily="34" charset="0"/>
                <a:ea typeface="Instrument Sans Medium" pitchFamily="34" charset="-122"/>
                <a:cs typeface="Instrument Sans Medium" pitchFamily="34" charset="-120"/>
              </a:rPr>
              <a:t>AWS Security Services</a:t>
            </a:r>
            <a:endParaRPr lang="en-US" sz="1100" dirty="0"/>
          </a:p>
        </p:txBody>
      </p:sp>
      <p:sp>
        <p:nvSpPr>
          <p:cNvPr id="11" name="Text 4"/>
          <p:cNvSpPr/>
          <p:nvPr/>
        </p:nvSpPr>
        <p:spPr>
          <a:xfrm>
            <a:off x="4532933" y="2853035"/>
            <a:ext cx="3941043" cy="708720"/>
          </a:xfrm>
          <a:prstGeom prst="rect">
            <a:avLst/>
          </a:prstGeom>
          <a:noFill/>
          <a:ln/>
        </p:spPr>
        <p:txBody>
          <a:bodyPr wrap="square" lIns="0" tIns="0" rIns="0" bIns="0" rtlCol="0" anchor="t">
            <a:normAutofit/>
          </a:bodyPr>
          <a:lstStyle/>
          <a:p>
            <a:pPr algn="l" marL="182880" indent="-182880">
              <a:lnSpc>
                <a:spcPct val="117000"/>
              </a:lnSpc>
              <a:buSzPct val="100000"/>
              <a:buChar char="•"/>
            </a:pPr>
            <a:r>
              <a:rPr lang="en-US" sz="900" b="1" dirty="0">
                <a:solidFill>
                  <a:srgbClr val="BFBFBF"/>
                </a:solidFill>
                <a:latin typeface="Open Sans Bold" pitchFamily="34" charset="0"/>
                <a:ea typeface="Open Sans Bold" pitchFamily="34" charset="-122"/>
                <a:cs typeface="Open Sans Bold" pitchFamily="34" charset="-120"/>
              </a:rPr>
              <a:t>AWS KMS</a:t>
            </a:r>
            <a:pPr algn="l" marL="182880" indent="-182880">
              <a:lnSpc>
                <a:spcPct val="117000"/>
              </a:lnSpc>
              <a:buSzPct val="100000"/>
              <a:buChar char="•"/>
            </a:pPr>
            <a:r>
              <a:rPr lang="en-US" sz="900" dirty="0">
                <a:solidFill>
                  <a:srgbClr val="BFBFBF"/>
                </a:solidFill>
                <a:latin typeface="Open Sans" pitchFamily="34" charset="0"/>
                <a:ea typeface="Open Sans" pitchFamily="34" charset="-122"/>
                <a:cs typeface="Open Sans" pitchFamily="34" charset="-120"/>
              </a:rPr>
              <a:t> — Centralized encryption key management</a:t>
            </a:r>
            <a:endParaRPr lang="en-US" sz="900" dirty="0"/>
          </a:p>
          <a:p>
            <a:pPr algn="l" marL="182880" indent="-182880">
              <a:lnSpc>
                <a:spcPct val="117000"/>
              </a:lnSpc>
              <a:buSzPct val="100000"/>
              <a:buChar char="•"/>
            </a:pPr>
            <a:r>
              <a:rPr lang="en-US" sz="900" b="1" dirty="0">
                <a:solidFill>
                  <a:srgbClr val="BFBFBF"/>
                </a:solidFill>
                <a:latin typeface="Open Sans Bold" pitchFamily="34" charset="0"/>
                <a:ea typeface="Open Sans Bold" pitchFamily="34" charset="-122"/>
                <a:cs typeface="Open Sans Bold" pitchFamily="34" charset="-120"/>
              </a:rPr>
              <a:t>AWS Secrets Manager</a:t>
            </a:r>
            <a:pPr algn="l" marL="182880" indent="-182880">
              <a:lnSpc>
                <a:spcPct val="117000"/>
              </a:lnSpc>
              <a:buSzPct val="100000"/>
              <a:buChar char="•"/>
            </a:pPr>
            <a:r>
              <a:rPr lang="en-US" sz="900" dirty="0">
                <a:solidFill>
                  <a:srgbClr val="BFBFBF"/>
                </a:solidFill>
                <a:latin typeface="Open Sans" pitchFamily="34" charset="0"/>
                <a:ea typeface="Open Sans" pitchFamily="34" charset="-122"/>
                <a:cs typeface="Open Sans" pitchFamily="34" charset="-120"/>
              </a:rPr>
              <a:t> — Secure storage for API keys and credentials</a:t>
            </a:r>
            <a:endParaRPr lang="en-US" sz="900" dirty="0"/>
          </a:p>
          <a:p>
            <a:pPr algn="l" marL="182880" indent="-182880">
              <a:lnSpc>
                <a:spcPct val="117000"/>
              </a:lnSpc>
              <a:buSzPct val="100000"/>
              <a:buChar char="•"/>
            </a:pPr>
            <a:r>
              <a:rPr lang="en-US" sz="900" b="1" dirty="0">
                <a:solidFill>
                  <a:srgbClr val="BFBFBF"/>
                </a:solidFill>
                <a:latin typeface="Open Sans Bold" pitchFamily="34" charset="0"/>
                <a:ea typeface="Open Sans Bold" pitchFamily="34" charset="-122"/>
                <a:cs typeface="Open Sans Bold" pitchFamily="34" charset="-120"/>
              </a:rPr>
              <a:t>AWS CloudTrail &amp; CloudWatch</a:t>
            </a:r>
            <a:pPr algn="l" marL="182880" indent="-182880">
              <a:lnSpc>
                <a:spcPct val="117000"/>
              </a:lnSpc>
              <a:buSzPct val="100000"/>
              <a:buChar char="•"/>
            </a:pPr>
            <a:r>
              <a:rPr lang="en-US" sz="900" dirty="0">
                <a:solidFill>
                  <a:srgbClr val="BFBFBF"/>
                </a:solidFill>
                <a:latin typeface="Open Sans" pitchFamily="34" charset="0"/>
                <a:ea typeface="Open Sans" pitchFamily="34" charset="-122"/>
                <a:cs typeface="Open Sans" pitchFamily="34" charset="-120"/>
              </a:rPr>
              <a:t> — Audit logging and real-time security alerts</a:t>
            </a:r>
            <a:endParaRPr lang="en-US" sz="900" dirty="0"/>
          </a:p>
        </p:txBody>
      </p:sp>
      <p:pic>
        <p:nvPicPr>
          <p:cNvPr id="12"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69023" y="3778523"/>
            <a:ext cx="4634954" cy="816843"/>
          </a:xfrm>
          <a:prstGeom prst="rect">
            <a:avLst/>
          </a:prstGeom>
        </p:spPr>
      </p:pic>
      <p:pic>
        <p:nvPicPr>
          <p:cNvPr id="13"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127971" y="4100140"/>
            <a:ext cx="173534" cy="173534"/>
          </a:xfrm>
          <a:prstGeom prst="rect">
            <a:avLst/>
          </a:prstGeom>
        </p:spPr>
      </p:pic>
      <p:sp>
        <p:nvSpPr>
          <p:cNvPr id="14" name="Text 5"/>
          <p:cNvSpPr/>
          <p:nvPr/>
        </p:nvSpPr>
        <p:spPr>
          <a:xfrm>
            <a:off x="4532933" y="3908524"/>
            <a:ext cx="3941043" cy="180826"/>
          </a:xfrm>
          <a:prstGeom prst="rect">
            <a:avLst/>
          </a:prstGeom>
          <a:noFill/>
          <a:ln/>
        </p:spPr>
        <p:txBody>
          <a:bodyPr wrap="none" lIns="0" tIns="0" rIns="0" bIns="0" rtlCol="0" anchor="t"/>
          <a:lstStyle/>
          <a:p>
            <a:pPr algn="l" indent="0" marL="0">
              <a:lnSpc>
                <a:spcPct val="104000"/>
              </a:lnSpc>
              <a:buNone/>
            </a:pPr>
            <a:r>
              <a:rPr lang="en-US" sz="1100" dirty="0">
                <a:solidFill>
                  <a:srgbClr val="BFBFBF"/>
                </a:solidFill>
                <a:latin typeface="Instrument Sans Medium" pitchFamily="34" charset="0"/>
                <a:ea typeface="Instrument Sans Medium" pitchFamily="34" charset="-122"/>
                <a:cs typeface="Instrument Sans Medium" pitchFamily="34" charset="-120"/>
              </a:rPr>
              <a:t>DevSecOps</a:t>
            </a:r>
            <a:endParaRPr lang="en-US" sz="1100" dirty="0"/>
          </a:p>
        </p:txBody>
      </p:sp>
      <p:sp>
        <p:nvSpPr>
          <p:cNvPr id="15" name="Text 6"/>
          <p:cNvSpPr/>
          <p:nvPr/>
        </p:nvSpPr>
        <p:spPr>
          <a:xfrm>
            <a:off x="4532933" y="4141366"/>
            <a:ext cx="3941043" cy="323999"/>
          </a:xfrm>
          <a:prstGeom prst="rect">
            <a:avLst/>
          </a:prstGeom>
          <a:noFill/>
          <a:ln/>
        </p:spPr>
        <p:txBody>
          <a:bodyPr wrap="square" lIns="0" tIns="0" rIns="0" bIns="0" rtlCol="0" anchor="t">
            <a:normAutofit/>
          </a:bodyPr>
          <a:lstStyle/>
          <a:p>
            <a:pPr algn="l" marL="182880" indent="-182880">
              <a:lnSpc>
                <a:spcPct val="117000"/>
              </a:lnSpc>
              <a:buSzPct val="100000"/>
              <a:buChar char="•"/>
            </a:pPr>
            <a:r>
              <a:rPr lang="en-US" sz="900" b="1" dirty="0">
                <a:solidFill>
                  <a:srgbClr val="BFBFBF"/>
                </a:solidFill>
                <a:latin typeface="Open Sans Bold" pitchFamily="34" charset="0"/>
                <a:ea typeface="Open Sans Bold" pitchFamily="34" charset="-122"/>
                <a:cs typeface="Open Sans Bold" pitchFamily="34" charset="-120"/>
              </a:rPr>
              <a:t>Secure CI/CD Pipeline</a:t>
            </a:r>
            <a:pPr algn="l" indent="0" marL="0">
              <a:lnSpc>
                <a:spcPct val="117000"/>
              </a:lnSpc>
              <a:buNone/>
            </a:pPr>
            <a:r>
              <a:rPr lang="en-US" sz="900" dirty="0">
                <a:solidFill>
                  <a:srgbClr val="BFBFBF"/>
                </a:solidFill>
                <a:latin typeface="Open Sans" pitchFamily="34" charset="0"/>
                <a:ea typeface="Open Sans" pitchFamily="34" charset="-122"/>
                <a:cs typeface="Open Sans" pitchFamily="34" charset="-120"/>
              </a:rPr>
              <a:t> — Automated SAST, dependency scanning, and container scanning before deployment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0023" y="454298"/>
            <a:ext cx="8063954" cy="346546"/>
          </a:xfrm>
          <a:prstGeom prst="rect">
            <a:avLst/>
          </a:prstGeom>
          <a:noFill/>
          <a:ln/>
        </p:spPr>
        <p:txBody>
          <a:bodyPr wrap="none" lIns="0" tIns="0" rIns="0" bIns="0" rtlCol="0" anchor="t"/>
          <a:lstStyle/>
          <a:p>
            <a:pPr algn="l" indent="0" marL="0">
              <a:lnSpc>
                <a:spcPct val="104000"/>
              </a:lnSpc>
              <a:buNone/>
            </a:pPr>
            <a:r>
              <a:rPr lang="en-US" sz="2150" dirty="0">
                <a:solidFill>
                  <a:srgbClr val="FEFEFE"/>
                </a:solidFill>
                <a:latin typeface="Instrument Sans Medium" pitchFamily="34" charset="0"/>
                <a:ea typeface="Instrument Sans Medium" pitchFamily="34" charset="-122"/>
                <a:cs typeface="Instrument Sans Medium" pitchFamily="34" charset="-120"/>
              </a:rPr>
              <a:t>Conclusion</a:t>
            </a:r>
            <a:endParaRPr lang="en-US" sz="2150" dirty="0"/>
          </a:p>
        </p:txBody>
      </p:sp>
      <p:sp>
        <p:nvSpPr>
          <p:cNvPr id="3" name="Text 1"/>
          <p:cNvSpPr/>
          <p:nvPr/>
        </p:nvSpPr>
        <p:spPr>
          <a:xfrm>
            <a:off x="540023" y="960239"/>
            <a:ext cx="8063954" cy="457200"/>
          </a:xfrm>
          <a:prstGeom prst="rect">
            <a:avLst/>
          </a:prstGeom>
          <a:noFill/>
          <a:ln/>
        </p:spPr>
        <p:txBody>
          <a:bodyPr wrap="square" lIns="0" tIns="0" rIns="0" bIns="0" rtlCol="0" anchor="t">
            <a:normAutofit/>
          </a:bodyPr>
          <a:lstStyle/>
          <a:p>
            <a:pPr algn="l" indent="0" marL="0">
              <a:lnSpc>
                <a:spcPct val="115000"/>
              </a:lnSpc>
              <a:buNone/>
            </a:pPr>
            <a:r>
              <a:rPr lang="en-US" sz="850" dirty="0">
                <a:solidFill>
                  <a:srgbClr val="BFBFBF"/>
                </a:solidFill>
                <a:latin typeface="Open Sans" pitchFamily="34" charset="0"/>
                <a:ea typeface="Open Sans" pitchFamily="34" charset="-122"/>
                <a:cs typeface="Open Sans" pitchFamily="34" charset="-120"/>
              </a:rPr>
              <a:t>Secure Cloud Vault demonstrates how modern cloud technologies and cybersecurity best practices can be combined to build a secure, scalable, and cloud-native file storage platform. The system successfully integrates JWT authentication, Two-Factor Authentication, AWS S3 storage, SHA-256 integrity verification, and Dockerized deployment into a cohesive solution for protecting sensitive digital assets.</a:t>
            </a:r>
            <a:endParaRPr lang="en-US" sz="850" dirty="0"/>
          </a:p>
        </p:txBody>
      </p:sp>
      <p:sp>
        <p:nvSpPr>
          <p:cNvPr id="4" name="Shape 2"/>
          <p:cNvSpPr/>
          <p:nvPr/>
        </p:nvSpPr>
        <p:spPr>
          <a:xfrm>
            <a:off x="540023" y="1507108"/>
            <a:ext cx="3992091" cy="1007566"/>
          </a:xfrm>
          <a:prstGeom prst="roundRect">
            <a:avLst>
              <a:gd name="adj" fmla="val 1651"/>
            </a:avLst>
          </a:prstGeom>
          <a:solidFill>
            <a:srgbClr val="3E3E3E"/>
          </a:solidFill>
          <a:ln/>
        </p:spPr>
      </p:sp>
      <p:sp>
        <p:nvSpPr>
          <p:cNvPr id="5" name="Shape 3"/>
          <p:cNvSpPr/>
          <p:nvPr/>
        </p:nvSpPr>
        <p:spPr>
          <a:xfrm>
            <a:off x="650900" y="1617985"/>
            <a:ext cx="332705" cy="332705"/>
          </a:xfrm>
          <a:prstGeom prst="ellipse">
            <a:avLst/>
          </a:prstGeom>
          <a:solidFill>
            <a:srgbClr val="F5F547"/>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2355" y="1709440"/>
            <a:ext cx="149721" cy="149721"/>
          </a:xfrm>
          <a:prstGeom prst="rect">
            <a:avLst/>
          </a:prstGeom>
        </p:spPr>
      </p:pic>
      <p:sp>
        <p:nvSpPr>
          <p:cNvPr id="7" name="Text 4"/>
          <p:cNvSpPr/>
          <p:nvPr/>
        </p:nvSpPr>
        <p:spPr>
          <a:xfrm>
            <a:off x="650900" y="2030388"/>
            <a:ext cx="3770337" cy="173236"/>
          </a:xfrm>
          <a:prstGeom prst="rect">
            <a:avLst/>
          </a:prstGeom>
          <a:noFill/>
          <a:ln/>
        </p:spPr>
        <p:txBody>
          <a:bodyPr wrap="none" lIns="0" tIns="0" rIns="0" bIns="0" rtlCol="0" anchor="t"/>
          <a:lstStyle/>
          <a:p>
            <a:pPr algn="l" indent="0" marL="0">
              <a:lnSpc>
                <a:spcPct val="104000"/>
              </a:lnSpc>
              <a:buNone/>
            </a:pPr>
            <a:r>
              <a:rPr lang="en-US" sz="1050" dirty="0">
                <a:solidFill>
                  <a:srgbClr val="BFBFBF"/>
                </a:solidFill>
                <a:latin typeface="Instrument Sans Medium" pitchFamily="34" charset="0"/>
                <a:ea typeface="Instrument Sans Medium" pitchFamily="34" charset="-122"/>
                <a:cs typeface="Instrument Sans Medium" pitchFamily="34" charset="-120"/>
              </a:rPr>
              <a:t>Secure Authentication</a:t>
            </a:r>
            <a:endParaRPr lang="en-US" sz="1050" dirty="0"/>
          </a:p>
        </p:txBody>
      </p:sp>
      <p:sp>
        <p:nvSpPr>
          <p:cNvPr id="8" name="Text 5"/>
          <p:cNvSpPr/>
          <p:nvPr/>
        </p:nvSpPr>
        <p:spPr>
          <a:xfrm>
            <a:off x="650900" y="2251397"/>
            <a:ext cx="3770337" cy="152400"/>
          </a:xfrm>
          <a:prstGeom prst="rect">
            <a:avLst/>
          </a:prstGeom>
          <a:noFill/>
          <a:ln/>
        </p:spPr>
        <p:txBody>
          <a:bodyPr wrap="none" lIns="0" tIns="0" rIns="0" bIns="0" rtlCol="0" anchor="t"/>
          <a:lstStyle/>
          <a:p>
            <a:pPr algn="l" indent="0" marL="0">
              <a:lnSpc>
                <a:spcPct val="115000"/>
              </a:lnSpc>
              <a:buNone/>
            </a:pPr>
            <a:r>
              <a:rPr lang="en-US" sz="850" dirty="0">
                <a:solidFill>
                  <a:srgbClr val="BFBFBF"/>
                </a:solidFill>
                <a:latin typeface="Open Sans" pitchFamily="34" charset="0"/>
                <a:ea typeface="Open Sans" pitchFamily="34" charset="-122"/>
                <a:cs typeface="Open Sans" pitchFamily="34" charset="-120"/>
              </a:rPr>
              <a:t>JWT tokens, bcrypt hashing, and TOTP-based 2FA</a:t>
            </a:r>
            <a:endParaRPr lang="en-US" sz="850" dirty="0"/>
          </a:p>
        </p:txBody>
      </p:sp>
      <p:sp>
        <p:nvSpPr>
          <p:cNvPr id="9" name="Shape 6"/>
          <p:cNvSpPr/>
          <p:nvPr/>
        </p:nvSpPr>
        <p:spPr>
          <a:xfrm>
            <a:off x="4611812" y="1507108"/>
            <a:ext cx="3992166" cy="1007566"/>
          </a:xfrm>
          <a:prstGeom prst="roundRect">
            <a:avLst>
              <a:gd name="adj" fmla="val 1651"/>
            </a:avLst>
          </a:prstGeom>
          <a:solidFill>
            <a:srgbClr val="3E3E3E"/>
          </a:solidFill>
          <a:ln/>
        </p:spPr>
      </p:sp>
      <p:sp>
        <p:nvSpPr>
          <p:cNvPr id="10" name="Shape 7"/>
          <p:cNvSpPr/>
          <p:nvPr/>
        </p:nvSpPr>
        <p:spPr>
          <a:xfrm>
            <a:off x="4722688" y="1617985"/>
            <a:ext cx="332705" cy="332705"/>
          </a:xfrm>
          <a:prstGeom prst="ellipse">
            <a:avLst/>
          </a:prstGeom>
          <a:solidFill>
            <a:srgbClr val="F5F547"/>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4143" y="1709440"/>
            <a:ext cx="149721" cy="149721"/>
          </a:xfrm>
          <a:prstGeom prst="rect">
            <a:avLst/>
          </a:prstGeom>
        </p:spPr>
      </p:pic>
      <p:sp>
        <p:nvSpPr>
          <p:cNvPr id="12" name="Text 8"/>
          <p:cNvSpPr/>
          <p:nvPr/>
        </p:nvSpPr>
        <p:spPr>
          <a:xfrm>
            <a:off x="4722688" y="2030388"/>
            <a:ext cx="3770412" cy="173236"/>
          </a:xfrm>
          <a:prstGeom prst="rect">
            <a:avLst/>
          </a:prstGeom>
          <a:noFill/>
          <a:ln/>
        </p:spPr>
        <p:txBody>
          <a:bodyPr wrap="none" lIns="0" tIns="0" rIns="0" bIns="0" rtlCol="0" anchor="t"/>
          <a:lstStyle/>
          <a:p>
            <a:pPr algn="l" indent="0" marL="0">
              <a:lnSpc>
                <a:spcPct val="104000"/>
              </a:lnSpc>
              <a:buNone/>
            </a:pPr>
            <a:r>
              <a:rPr lang="en-US" sz="1050" dirty="0">
                <a:solidFill>
                  <a:srgbClr val="BFBFBF"/>
                </a:solidFill>
                <a:latin typeface="Instrument Sans Medium" pitchFamily="34" charset="0"/>
                <a:ea typeface="Instrument Sans Medium" pitchFamily="34" charset="-122"/>
                <a:cs typeface="Instrument Sans Medium" pitchFamily="34" charset="-120"/>
              </a:rPr>
              <a:t>Cloud Storage Integration</a:t>
            </a:r>
            <a:endParaRPr lang="en-US" sz="1050" dirty="0"/>
          </a:p>
        </p:txBody>
      </p:sp>
      <p:sp>
        <p:nvSpPr>
          <p:cNvPr id="13" name="Text 9"/>
          <p:cNvSpPr/>
          <p:nvPr/>
        </p:nvSpPr>
        <p:spPr>
          <a:xfrm>
            <a:off x="4722688" y="2251397"/>
            <a:ext cx="3770412" cy="152400"/>
          </a:xfrm>
          <a:prstGeom prst="rect">
            <a:avLst/>
          </a:prstGeom>
          <a:noFill/>
          <a:ln/>
        </p:spPr>
        <p:txBody>
          <a:bodyPr wrap="none" lIns="0" tIns="0" rIns="0" bIns="0" rtlCol="0" anchor="t"/>
          <a:lstStyle/>
          <a:p>
            <a:pPr algn="l" indent="0" marL="0">
              <a:lnSpc>
                <a:spcPct val="115000"/>
              </a:lnSpc>
              <a:buNone/>
            </a:pPr>
            <a:r>
              <a:rPr lang="en-US" sz="850" dirty="0">
                <a:solidFill>
                  <a:srgbClr val="BFBFBF"/>
                </a:solidFill>
                <a:latin typeface="Open Sans" pitchFamily="34" charset="0"/>
                <a:ea typeface="Open Sans" pitchFamily="34" charset="-122"/>
                <a:cs typeface="Open Sans" pitchFamily="34" charset="-120"/>
              </a:rPr>
              <a:t>Seamless AWS S3 file management with pre-signed URLs</a:t>
            </a:r>
            <a:endParaRPr lang="en-US" sz="850" dirty="0"/>
          </a:p>
        </p:txBody>
      </p:sp>
      <p:sp>
        <p:nvSpPr>
          <p:cNvPr id="14" name="Shape 10"/>
          <p:cNvSpPr/>
          <p:nvPr/>
        </p:nvSpPr>
        <p:spPr>
          <a:xfrm>
            <a:off x="540023" y="2594372"/>
            <a:ext cx="3992091" cy="1007566"/>
          </a:xfrm>
          <a:prstGeom prst="roundRect">
            <a:avLst>
              <a:gd name="adj" fmla="val 1651"/>
            </a:avLst>
          </a:prstGeom>
          <a:solidFill>
            <a:srgbClr val="3E3E3E"/>
          </a:solidFill>
          <a:ln/>
        </p:spPr>
      </p:sp>
      <p:sp>
        <p:nvSpPr>
          <p:cNvPr id="15" name="Shape 11"/>
          <p:cNvSpPr/>
          <p:nvPr/>
        </p:nvSpPr>
        <p:spPr>
          <a:xfrm>
            <a:off x="650900" y="2705249"/>
            <a:ext cx="332705" cy="332705"/>
          </a:xfrm>
          <a:prstGeom prst="ellipse">
            <a:avLst/>
          </a:prstGeom>
          <a:solidFill>
            <a:srgbClr val="F5F547"/>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2355" y="2796704"/>
            <a:ext cx="149721" cy="149721"/>
          </a:xfrm>
          <a:prstGeom prst="rect">
            <a:avLst/>
          </a:prstGeom>
        </p:spPr>
      </p:pic>
      <p:sp>
        <p:nvSpPr>
          <p:cNvPr id="17" name="Text 12"/>
          <p:cNvSpPr/>
          <p:nvPr/>
        </p:nvSpPr>
        <p:spPr>
          <a:xfrm>
            <a:off x="650900" y="3117652"/>
            <a:ext cx="3770337" cy="173236"/>
          </a:xfrm>
          <a:prstGeom prst="rect">
            <a:avLst/>
          </a:prstGeom>
          <a:noFill/>
          <a:ln/>
        </p:spPr>
        <p:txBody>
          <a:bodyPr wrap="none" lIns="0" tIns="0" rIns="0" bIns="0" rtlCol="0" anchor="t"/>
          <a:lstStyle/>
          <a:p>
            <a:pPr algn="l" indent="0" marL="0">
              <a:lnSpc>
                <a:spcPct val="104000"/>
              </a:lnSpc>
              <a:buNone/>
            </a:pPr>
            <a:r>
              <a:rPr lang="en-US" sz="1050" dirty="0">
                <a:solidFill>
                  <a:srgbClr val="BFBFBF"/>
                </a:solidFill>
                <a:latin typeface="Instrument Sans Medium" pitchFamily="34" charset="0"/>
                <a:ea typeface="Instrument Sans Medium" pitchFamily="34" charset="-122"/>
                <a:cs typeface="Instrument Sans Medium" pitchFamily="34" charset="-120"/>
              </a:rPr>
              <a:t>File Integrity Verification</a:t>
            </a:r>
            <a:endParaRPr lang="en-US" sz="1050" dirty="0"/>
          </a:p>
        </p:txBody>
      </p:sp>
      <p:sp>
        <p:nvSpPr>
          <p:cNvPr id="18" name="Text 13"/>
          <p:cNvSpPr/>
          <p:nvPr/>
        </p:nvSpPr>
        <p:spPr>
          <a:xfrm>
            <a:off x="650900" y="3338661"/>
            <a:ext cx="3770337" cy="152400"/>
          </a:xfrm>
          <a:prstGeom prst="rect">
            <a:avLst/>
          </a:prstGeom>
          <a:noFill/>
          <a:ln/>
        </p:spPr>
        <p:txBody>
          <a:bodyPr wrap="none" lIns="0" tIns="0" rIns="0" bIns="0" rtlCol="0" anchor="t"/>
          <a:lstStyle/>
          <a:p>
            <a:pPr algn="l" indent="0" marL="0">
              <a:lnSpc>
                <a:spcPct val="115000"/>
              </a:lnSpc>
              <a:buNone/>
            </a:pPr>
            <a:r>
              <a:rPr lang="en-US" sz="850" dirty="0">
                <a:solidFill>
                  <a:srgbClr val="BFBFBF"/>
                </a:solidFill>
                <a:latin typeface="Open Sans" pitchFamily="34" charset="0"/>
                <a:ea typeface="Open Sans" pitchFamily="34" charset="-122"/>
                <a:cs typeface="Open Sans" pitchFamily="34" charset="-120"/>
              </a:rPr>
              <a:t>SHA-256 hashing ensures files remain unaltered</a:t>
            </a:r>
            <a:endParaRPr lang="en-US" sz="850" dirty="0"/>
          </a:p>
        </p:txBody>
      </p:sp>
      <p:sp>
        <p:nvSpPr>
          <p:cNvPr id="19" name="Shape 14"/>
          <p:cNvSpPr/>
          <p:nvPr/>
        </p:nvSpPr>
        <p:spPr>
          <a:xfrm>
            <a:off x="4611812" y="2594372"/>
            <a:ext cx="3992166" cy="1007566"/>
          </a:xfrm>
          <a:prstGeom prst="roundRect">
            <a:avLst>
              <a:gd name="adj" fmla="val 1651"/>
            </a:avLst>
          </a:prstGeom>
          <a:solidFill>
            <a:srgbClr val="3E3E3E"/>
          </a:solidFill>
          <a:ln/>
        </p:spPr>
      </p:sp>
      <p:sp>
        <p:nvSpPr>
          <p:cNvPr id="20" name="Shape 15"/>
          <p:cNvSpPr/>
          <p:nvPr/>
        </p:nvSpPr>
        <p:spPr>
          <a:xfrm>
            <a:off x="4722688" y="2705249"/>
            <a:ext cx="332705" cy="332705"/>
          </a:xfrm>
          <a:prstGeom prst="ellipse">
            <a:avLst/>
          </a:prstGeom>
          <a:solidFill>
            <a:srgbClr val="F5F547"/>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4143" y="2796704"/>
            <a:ext cx="149721" cy="149721"/>
          </a:xfrm>
          <a:prstGeom prst="rect">
            <a:avLst/>
          </a:prstGeom>
        </p:spPr>
      </p:pic>
      <p:sp>
        <p:nvSpPr>
          <p:cNvPr id="22" name="Text 16"/>
          <p:cNvSpPr/>
          <p:nvPr/>
        </p:nvSpPr>
        <p:spPr>
          <a:xfrm>
            <a:off x="4722688" y="3117652"/>
            <a:ext cx="3770412" cy="173236"/>
          </a:xfrm>
          <a:prstGeom prst="rect">
            <a:avLst/>
          </a:prstGeom>
          <a:noFill/>
          <a:ln/>
        </p:spPr>
        <p:txBody>
          <a:bodyPr wrap="none" lIns="0" tIns="0" rIns="0" bIns="0" rtlCol="0" anchor="t"/>
          <a:lstStyle/>
          <a:p>
            <a:pPr algn="l" indent="0" marL="0">
              <a:lnSpc>
                <a:spcPct val="104000"/>
              </a:lnSpc>
              <a:buNone/>
            </a:pPr>
            <a:r>
              <a:rPr lang="en-US" sz="1050" dirty="0">
                <a:solidFill>
                  <a:srgbClr val="BFBFBF"/>
                </a:solidFill>
                <a:latin typeface="Instrument Sans Medium" pitchFamily="34" charset="0"/>
                <a:ea typeface="Instrument Sans Medium" pitchFamily="34" charset="-122"/>
                <a:cs typeface="Instrument Sans Medium" pitchFamily="34" charset="-120"/>
              </a:rPr>
              <a:t>Dockerized Deployment</a:t>
            </a:r>
            <a:endParaRPr lang="en-US" sz="1050" dirty="0"/>
          </a:p>
        </p:txBody>
      </p:sp>
      <p:sp>
        <p:nvSpPr>
          <p:cNvPr id="23" name="Text 17"/>
          <p:cNvSpPr/>
          <p:nvPr/>
        </p:nvSpPr>
        <p:spPr>
          <a:xfrm>
            <a:off x="4722688" y="3338661"/>
            <a:ext cx="3770412" cy="152400"/>
          </a:xfrm>
          <a:prstGeom prst="rect">
            <a:avLst/>
          </a:prstGeom>
          <a:noFill/>
          <a:ln/>
        </p:spPr>
        <p:txBody>
          <a:bodyPr wrap="none" lIns="0" tIns="0" rIns="0" bIns="0" rtlCol="0" anchor="t"/>
          <a:lstStyle/>
          <a:p>
            <a:pPr algn="l" indent="0" marL="0">
              <a:lnSpc>
                <a:spcPct val="115000"/>
              </a:lnSpc>
              <a:buNone/>
            </a:pPr>
            <a:r>
              <a:rPr lang="en-US" sz="850" dirty="0">
                <a:solidFill>
                  <a:srgbClr val="BFBFBF"/>
                </a:solidFill>
                <a:latin typeface="Open Sans" pitchFamily="34" charset="0"/>
                <a:ea typeface="Open Sans" pitchFamily="34" charset="-122"/>
                <a:cs typeface="Open Sans" pitchFamily="34" charset="-120"/>
              </a:rPr>
              <a:t>Containerized architecture for consistent, portable deployment</a:t>
            </a:r>
            <a:endParaRPr lang="en-US" sz="850" dirty="0"/>
          </a:p>
        </p:txBody>
      </p:sp>
      <p:sp>
        <p:nvSpPr>
          <p:cNvPr id="24" name="Shape 18"/>
          <p:cNvSpPr/>
          <p:nvPr/>
        </p:nvSpPr>
        <p:spPr>
          <a:xfrm>
            <a:off x="540023" y="3681636"/>
            <a:ext cx="3992091" cy="1007566"/>
          </a:xfrm>
          <a:prstGeom prst="roundRect">
            <a:avLst>
              <a:gd name="adj" fmla="val 1651"/>
            </a:avLst>
          </a:prstGeom>
          <a:solidFill>
            <a:srgbClr val="3E3E3E"/>
          </a:solidFill>
          <a:ln/>
        </p:spPr>
      </p:sp>
      <p:sp>
        <p:nvSpPr>
          <p:cNvPr id="25" name="Shape 19"/>
          <p:cNvSpPr/>
          <p:nvPr/>
        </p:nvSpPr>
        <p:spPr>
          <a:xfrm>
            <a:off x="650900" y="3792513"/>
            <a:ext cx="332705" cy="332705"/>
          </a:xfrm>
          <a:prstGeom prst="ellipse">
            <a:avLst/>
          </a:prstGeom>
          <a:solidFill>
            <a:srgbClr val="F5F547"/>
          </a:solidFill>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2355" y="3883968"/>
            <a:ext cx="149721" cy="149721"/>
          </a:xfrm>
          <a:prstGeom prst="rect">
            <a:avLst/>
          </a:prstGeom>
        </p:spPr>
      </p:pic>
      <p:sp>
        <p:nvSpPr>
          <p:cNvPr id="27" name="Text 20"/>
          <p:cNvSpPr/>
          <p:nvPr/>
        </p:nvSpPr>
        <p:spPr>
          <a:xfrm>
            <a:off x="650900" y="4204915"/>
            <a:ext cx="3770337" cy="173236"/>
          </a:xfrm>
          <a:prstGeom prst="rect">
            <a:avLst/>
          </a:prstGeom>
          <a:noFill/>
          <a:ln/>
        </p:spPr>
        <p:txBody>
          <a:bodyPr wrap="none" lIns="0" tIns="0" rIns="0" bIns="0" rtlCol="0" anchor="t"/>
          <a:lstStyle/>
          <a:p>
            <a:pPr algn="l" indent="0" marL="0">
              <a:lnSpc>
                <a:spcPct val="104000"/>
              </a:lnSpc>
              <a:buNone/>
            </a:pPr>
            <a:r>
              <a:rPr lang="en-US" sz="1050" dirty="0">
                <a:solidFill>
                  <a:srgbClr val="BFBFBF"/>
                </a:solidFill>
                <a:latin typeface="Instrument Sans Medium" pitchFamily="34" charset="0"/>
                <a:ea typeface="Instrument Sans Medium" pitchFamily="34" charset="-122"/>
                <a:cs typeface="Instrument Sans Medium" pitchFamily="34" charset="-120"/>
              </a:rPr>
              <a:t>Enterprise-Ready Design</a:t>
            </a:r>
            <a:endParaRPr lang="en-US" sz="1050" dirty="0"/>
          </a:p>
        </p:txBody>
      </p:sp>
      <p:sp>
        <p:nvSpPr>
          <p:cNvPr id="28" name="Text 21"/>
          <p:cNvSpPr/>
          <p:nvPr/>
        </p:nvSpPr>
        <p:spPr>
          <a:xfrm>
            <a:off x="650900" y="4425925"/>
            <a:ext cx="3770337" cy="152400"/>
          </a:xfrm>
          <a:prstGeom prst="rect">
            <a:avLst/>
          </a:prstGeom>
          <a:noFill/>
          <a:ln/>
        </p:spPr>
        <p:txBody>
          <a:bodyPr wrap="none" lIns="0" tIns="0" rIns="0" bIns="0" rtlCol="0" anchor="t"/>
          <a:lstStyle/>
          <a:p>
            <a:pPr algn="l" indent="0" marL="0">
              <a:lnSpc>
                <a:spcPct val="115000"/>
              </a:lnSpc>
              <a:buNone/>
            </a:pPr>
            <a:r>
              <a:rPr lang="en-US" sz="850" dirty="0">
                <a:solidFill>
                  <a:srgbClr val="BFBFBF"/>
                </a:solidFill>
                <a:latin typeface="Open Sans" pitchFamily="34" charset="0"/>
                <a:ea typeface="Open Sans" pitchFamily="34" charset="-122"/>
                <a:cs typeface="Open Sans" pitchFamily="34" charset="-120"/>
              </a:rPr>
              <a:t>Scalable architecture suitable for production environments</a:t>
            </a:r>
            <a:endParaRPr lang="en-US" sz="850" dirty="0"/>
          </a:p>
        </p:txBody>
      </p:sp>
      <p:sp>
        <p:nvSpPr>
          <p:cNvPr id="29" name="Shape 22"/>
          <p:cNvSpPr/>
          <p:nvPr/>
        </p:nvSpPr>
        <p:spPr>
          <a:xfrm>
            <a:off x="4611812" y="3681636"/>
            <a:ext cx="3992166" cy="1007566"/>
          </a:xfrm>
          <a:prstGeom prst="roundRect">
            <a:avLst>
              <a:gd name="adj" fmla="val 1651"/>
            </a:avLst>
          </a:prstGeom>
          <a:solidFill>
            <a:srgbClr val="3E3E3E"/>
          </a:solidFill>
          <a:ln/>
        </p:spPr>
      </p:sp>
      <p:sp>
        <p:nvSpPr>
          <p:cNvPr id="30" name="Shape 23"/>
          <p:cNvSpPr/>
          <p:nvPr/>
        </p:nvSpPr>
        <p:spPr>
          <a:xfrm>
            <a:off x="4722688" y="3792513"/>
            <a:ext cx="332705" cy="332705"/>
          </a:xfrm>
          <a:prstGeom prst="ellipse">
            <a:avLst/>
          </a:prstGeom>
          <a:solidFill>
            <a:srgbClr val="F5F547"/>
          </a:solidFill>
          <a:ln/>
        </p:spPr>
      </p:sp>
      <p:pic>
        <p:nvPicPr>
          <p:cNvPr id="3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14143" y="3883968"/>
            <a:ext cx="149721" cy="149721"/>
          </a:xfrm>
          <a:prstGeom prst="rect">
            <a:avLst/>
          </a:prstGeom>
        </p:spPr>
      </p:pic>
      <p:sp>
        <p:nvSpPr>
          <p:cNvPr id="32" name="Text 24"/>
          <p:cNvSpPr/>
          <p:nvPr/>
        </p:nvSpPr>
        <p:spPr>
          <a:xfrm>
            <a:off x="4722688" y="4204915"/>
            <a:ext cx="3770412" cy="173236"/>
          </a:xfrm>
          <a:prstGeom prst="rect">
            <a:avLst/>
          </a:prstGeom>
          <a:noFill/>
          <a:ln/>
        </p:spPr>
        <p:txBody>
          <a:bodyPr wrap="none" lIns="0" tIns="0" rIns="0" bIns="0" rtlCol="0" anchor="t"/>
          <a:lstStyle/>
          <a:p>
            <a:pPr algn="l" indent="0" marL="0">
              <a:lnSpc>
                <a:spcPct val="104000"/>
              </a:lnSpc>
              <a:buNone/>
            </a:pPr>
            <a:r>
              <a:rPr lang="en-US" sz="1050" dirty="0">
                <a:solidFill>
                  <a:srgbClr val="BFBFBF"/>
                </a:solidFill>
                <a:latin typeface="Instrument Sans Medium" pitchFamily="34" charset="0"/>
                <a:ea typeface="Instrument Sans Medium" pitchFamily="34" charset="-122"/>
                <a:cs typeface="Instrument Sans Medium" pitchFamily="34" charset="-120"/>
              </a:rPr>
              <a:t>Scalable Architecture</a:t>
            </a:r>
            <a:endParaRPr lang="en-US" sz="1050" dirty="0"/>
          </a:p>
        </p:txBody>
      </p:sp>
      <p:sp>
        <p:nvSpPr>
          <p:cNvPr id="33" name="Text 25"/>
          <p:cNvSpPr/>
          <p:nvPr/>
        </p:nvSpPr>
        <p:spPr>
          <a:xfrm>
            <a:off x="4722688" y="4425925"/>
            <a:ext cx="3770412" cy="152400"/>
          </a:xfrm>
          <a:prstGeom prst="rect">
            <a:avLst/>
          </a:prstGeom>
          <a:noFill/>
          <a:ln/>
        </p:spPr>
        <p:txBody>
          <a:bodyPr wrap="none" lIns="0" tIns="0" rIns="0" bIns="0" rtlCol="0" anchor="t"/>
          <a:lstStyle/>
          <a:p>
            <a:pPr algn="l" indent="0" marL="0">
              <a:lnSpc>
                <a:spcPct val="115000"/>
              </a:lnSpc>
              <a:buNone/>
            </a:pPr>
            <a:r>
              <a:rPr lang="en-US" sz="850" dirty="0">
                <a:solidFill>
                  <a:srgbClr val="BFBFBF"/>
                </a:solidFill>
                <a:latin typeface="Open Sans" pitchFamily="34" charset="0"/>
                <a:ea typeface="Open Sans" pitchFamily="34" charset="-122"/>
                <a:cs typeface="Open Sans" pitchFamily="34" charset="-120"/>
              </a:rPr>
              <a:t>Built to grow with increasing user and storage demands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0023" y="2052861"/>
            <a:ext cx="8063954" cy="482203"/>
          </a:xfrm>
          <a:prstGeom prst="rect">
            <a:avLst/>
          </a:prstGeom>
          <a:noFill/>
          <a:ln/>
        </p:spPr>
        <p:txBody>
          <a:bodyPr wrap="none" lIns="0" tIns="0" rIns="0" bIns="0" rtlCol="0" anchor="t"/>
          <a:lstStyle/>
          <a:p>
            <a:pPr algn="ctr" indent="0" marL="0">
              <a:lnSpc>
                <a:spcPct val="104000"/>
              </a:lnSpc>
              <a:buNone/>
            </a:pPr>
            <a:r>
              <a:rPr lang="en-US" sz="3000" dirty="0">
                <a:solidFill>
                  <a:srgbClr val="FEFEFE"/>
                </a:solidFill>
                <a:latin typeface="Instrument Sans Medium" pitchFamily="34" charset="0"/>
                <a:ea typeface="Instrument Sans Medium" pitchFamily="34" charset="-122"/>
                <a:cs typeface="Instrument Sans Medium" pitchFamily="34" charset="-120"/>
              </a:rPr>
              <a:t>Thank You</a:t>
            </a:r>
            <a:endParaRPr lang="en-US" sz="3000" dirty="0"/>
          </a:p>
        </p:txBody>
      </p:sp>
      <p:sp>
        <p:nvSpPr>
          <p:cNvPr id="3" name="Text 1"/>
          <p:cNvSpPr/>
          <p:nvPr/>
        </p:nvSpPr>
        <p:spPr>
          <a:xfrm>
            <a:off x="311423" y="2843659"/>
            <a:ext cx="8521154" cy="246906"/>
          </a:xfrm>
          <a:prstGeom prst="rect">
            <a:avLst/>
          </a:prstGeom>
          <a:noFill/>
          <a:ln/>
        </p:spPr>
        <p:txBody>
          <a:bodyPr wrap="none" lIns="0" tIns="0" rIns="0" bIns="0" rtlCol="0" anchor="t"/>
          <a:lstStyle/>
          <a:p>
            <a:pPr algn="ctr" indent="0" marL="0">
              <a:lnSpc>
                <a:spcPct val="133000"/>
              </a:lnSpc>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2026-07-19T10:38:53Z</dcterms:created>
  <dcterms:modified xsi:type="dcterms:W3CDTF">2026-07-19T10:38:53Z</dcterms:modified>
</cp:coreProperties>
</file>